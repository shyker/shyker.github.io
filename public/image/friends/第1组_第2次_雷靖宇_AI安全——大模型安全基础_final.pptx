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7" r:id="rId6"/>
    <p:sldId id="268" r:id="rId7"/>
    <p:sldId id="269" r:id="rId8"/>
    <p:sldId id="270" r:id="rId9"/>
    <p:sldId id="260" r:id="rId10"/>
    <p:sldId id="265" r:id="rId11"/>
    <p:sldId id="266" r:id="rId12"/>
    <p:sldId id="261" r:id="rId13"/>
    <p:sldId id="262" r:id="rId14"/>
    <p:sldId id="263" r:id="rId15"/>
    <p:sldId id="264" r:id="rId16"/>
  </p:sldIdLst>
  <p:sldSz cx="12192000" cy="6858000"/>
  <p:notesSz cx="6858000" cy="12192000"/>
  <p:embeddedFontLst>
    <p:embeddedFont>
      <p:font typeface="华文宋体" panose="02010600040101010101" pitchFamily="2" charset="-122"/>
      <p:regular r:id="rId18"/>
    </p:embeddedFont>
    <p:embeddedFont>
      <p:font typeface="HarmonyOS Sans SC" panose="00000500000000000000" pitchFamily="2" charset="-122"/>
      <p:regular r:id="rId19"/>
      <p:bold r:id="rId20"/>
    </p:embeddedFont>
    <p:embeddedFont>
      <p:font typeface="汉仪国图创新红楼梦 45U" pitchFamily="2" charset="-122"/>
      <p:regular r:id="rId21"/>
    </p:embeddedFont>
    <p:embeddedFont>
      <p:font typeface="汉仪国图创新红楼梦 65U" pitchFamily="2" charset="-122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0147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标题页为本次汇报的原创版式设计，不含外部图片引用。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- 7次汇报路线依据用户提供的开题PPT“讨论路线”页改写与延展。
- 本页不引入新增外部事实，主要用于说明第2次汇报在整条课程主线中的位置。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OWASP GenAI Security Project, “LLM01:2025 Prompt Injection.” https://genai.owasp.org/llmrisk/llm01-prompt-injection/
- OWASP GenAI Security Project, “LLM02:2025 Sensitive Information Disclosure.” https://genai.owasp.org/llmrisk/llm022025-sensitive-information-disclosure/
- NIST, Artificial Intelligence Risk Management Framework: Generative AI Profile (AI 600-1), 2024.
- NIST, Adversarial Machine Learning: A Taxonomy and Terminology of Attacks and Mitigations (AI 100-2e2025),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Microsoft Learn, “Prompt Shields in Azure AI Content Safety,” especially user prompt attack categories such as role-play, attempts to change system rules, and encoding attacks. https://learn.microsoft.com/en-us/azure/ai-services/content-safety/concepts/jailbreak-detection
- Huang et al., “Jailbreak Attacks and Defenses Against Large Language Models: A Survey,” arXiv:2407.04295, 2024.
- Inserted figure asset cropped from Huang et al., Fig. 1, rendered from https://arxiv.org/pdf/2407.04295.pdf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C4F1C-C1DC-55DE-B877-2FF75A2D0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E2AA1F-01D2-4A80-964A-26A6758D8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E70A76-BBC4-ADBD-007F-923DE6340C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Microsoft Learn, “Prompt Shields in Azure AI Content Safety,” especially user prompt attack categories such as role-play, attempts to change system rules, and encoding attacks. https://learn.microsoft.com/en-us/azure/ai-services/content-safety/concepts/jailbreak-detection
- Huang et al., “Jailbreak Attacks and Defenses Against Large Language Models: A Survey,” arXiv:2407.04295, 2024.
- Inserted figure asset cropped from Huang et al., Fig. 1, rendered from https://arxiv.org/pdf/2407.04295.pdf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75694-7245-03FD-264E-75C9AF6CFD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0920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78B2E-822C-AEED-A892-F5D5025C6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3557C9-56E9-253D-5F72-658A94049F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E6E79C-1F62-A9FE-7027-1BE844A4E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Microsoft Learn, “Prompt Shields in Azure AI Content Safety,” especially user prompt attack categories such as role-play, attempts to change system rules, and encoding attacks. https://learn.microsoft.com/en-us/azure/ai-services/content-safety/concepts/jailbreak-detection
- Huang et al., “Jailbreak Attacks and Defenses Against Large Language Models: A Survey,” arXiv:2407.04295, 2024.
- Inserted figure asset cropped from Huang et al., Fig. 1, rendered from https://arxiv.org/pdf/2407.04295.pdf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3F6B1-5512-9AFF-E589-1F5DF01CC9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140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8B7FF-56FB-8BF5-10B6-2B47EF0B2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335610-62ED-9444-3157-4647B9BEE6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6C54AA-6167-A7DB-3B28-A275CCBCF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Microsoft Learn, “Prompt Shields in Azure AI Content Safety,” especially user prompt attack categories such as role-play, attempts to change system rules, and encoding attacks. https://learn.microsoft.com/en-us/azure/ai-services/content-safety/concepts/jailbreak-detection
- Huang et al., “Jailbreak Attacks and Defenses Against Large Language Models: A Survey,” arXiv:2407.04295, 2024.
- Inserted figure asset cropped from Huang et al., Fig. 1, rendered from https://arxiv.org/pdf/2407.04295.pdf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C7FE0-3F25-7FB4-9853-4F72BA1BB9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404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8B451-A4AC-1080-F452-418C477FA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AE133B-4320-7BD4-10A5-C1518C6B84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72C0DF-B0E2-77BE-46C1-4C022D608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Microsoft Learn, “Prompt Shields in Azure AI Content Safety,” especially user prompt attack categories such as role-play, attempts to change system rules, and encoding attacks. https://learn.microsoft.com/en-us/azure/ai-services/content-safety/concepts/jailbreak-detection
- Huang et al., “Jailbreak Attacks and Defenses Against Large Language Models: A Survey,” arXiv:2407.04295, 2024.
- Inserted figure asset cropped from Huang et al., Fig. 1, rendered from https://arxiv.org/pdf/2407.04295.pdf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71B6E-EC59-A5DD-DD59-C033A763E2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2559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OWASP GenAI Security Project, “LLM01:2025 Prompt Injection.” https://genai.owasp.org/llmrisk/llm01-prompt-injection/
- Microsoft Learn, “Prompt Shields in Azure AI Content Safety,” document attacks and user prompt attack taxonomy. https://learn.microsoft.com/en-us/azure/ai-services/content-safety/concepts/jailbreak-detection
- Anthropic, “Mitigating the risk of prompt injections in browser use,” 2025. https://www.anthropic.com/research/prompt-injection-defenses
- Liu et al., “Prompt Injection attack against LLM-integrated Applications,” arXiv:2306.05499.
- Inserted figure asset cropped from Liu et al., “Formalizing and Benchmarking Prompt Injection Attacks and Defenses,” USENIX Security 2024, Fig. 1, rendered from https://www.usenix.org/system/files/usenixsecurity24-liu-yupei.pdf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36F9D-9A37-F7E5-BE51-7850C8811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8A1DCA-F084-1D2A-385E-99C350C3C2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6AF71-DB0F-87BB-25CF-6DB8656F4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OWASP GenAI Security Project, “LLM01:2025 Prompt Injection.” https://genai.owasp.org/llmrisk/llm01-prompt-injection/
- Microsoft Learn, “Prompt Shields in Azure AI Content Safety,” document attacks and user prompt attack taxonomy. https://learn.microsoft.com/en-us/azure/ai-services/content-safety/concepts/jailbreak-detection
- Anthropic, “Mitigating the risk of prompt injections in browser use,” 2025. https://www.anthropic.com/research/prompt-injection-defenses
- Liu et al., “Prompt Injection attack against LLM-integrated Applications,” arXiv:2306.05499.
- Inserted figure asset cropped from Liu et al., “Formalizing and Benchmarking Prompt Injection Attacks and Defenses,” USENIX Security 2024, Fig. 1, rendered from https://www.usenix.org/system/files/usenixsecurity24-liu-yupei.pdf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24C96-9972-04C3-A447-12E8DE3E7C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6960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A9843-6820-2F75-5242-C567FD1A0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DED8EE-7850-6609-FDCB-95965E5F68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EAA02B-879C-942E-CFF1-7E50F95A9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OWASP GenAI Security Project, “LLM01:2025 Prompt Injection.” https://genai.owasp.org/llmrisk/llm01-prompt-injection/
- Microsoft Learn, “Prompt Shields in Azure AI Content Safety,” document attacks and user prompt attack taxonomy. https://learn.microsoft.com/en-us/azure/ai-services/content-safety/concepts/jailbreak-detection
- Anthropic, “Mitigating the risk of prompt injections in browser use,” 2025. https://www.anthropic.com/research/prompt-injection-defenses
- Liu et al., “Prompt Injection attack against LLM-integrated Applications,” arXiv:2306.05499.
- Inserted figure asset cropped from Liu et al., “Formalizing and Benchmarking Prompt Injection Attacks and Defenses,” USENIX Security 2024, Fig. 1, rendered from https://www.usenix.org/system/files/usenixsecurity24-liu-yupei.pdf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9C61D-A195-4B4E-8DE5-BA4013D5E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1827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OWASP GenAI Security Project, “LLM02:2025 Sensitive Information Disclosure.” https://genai.owasp.org/llmrisk/llm022025-sensitive-information-disclosure/
- OWASP GenAI Security Project, “LLM07:2025 System Prompt Leakage.” https://genai.owasp.org/llmrisk/llm072025-system-prompt-leakage/
- Agarwal et al., “Prompt Leakage effect and mitigation strategies for multi-turn LLM Applications,” EMNLP Industry 2024.
- Inserted figure asset cropped from Agarwal et al., Fig. 1, rendered from https://aclanthology.org/2024.emnlp-industry.94.pdf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OWASP GenAI Security Project, “LLM01:2025 Prompt Injection.” https://genai.owasp.org/llmrisk/llm01-prompt-injection/
- Microsoft Learn, “Prompt Shields in Azure AI Content Safety.” https://learn.microsoft.com/en-us/azure/ai-services/content-safety/concepts/jailbreak-detection
- Anthropic, “Mitigating the risk of prompt injections in browser use,” 2025.
- NIST, Artificial Intelligence Risk Management Framework: Generative AI Profile (AI 600-1), 2024.
- Huang et al., “Jailbreak Attacks and Defenses Against Large Language Models: A Survey,” 2024.
- OWASP GenAI Security Project, “LLM02:2025 Sensitive Information Disclosure.”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OWASP GenAI Security Project, “LLM01:2025 Prompt Injection.”
- OWASP GenAI Security Project, “LLM02:2025 Sensitive Information Disclosure.”
- Anthropic, “Mitigating the risk of prompt injections in browser use,” 2025.
- Microsoft Learn, “Prompt Shields in Azure AI Content Safety.”
- Huang et al., “Jailbreak Attacks and Defenses Against Large Language Models: A Survey,” 2024.
- Agarwal et al., “Prompt Leakage effect and mitigation strategies for multi-turn LLM Applications,”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本页为参考文献汇总，条目已在各页 speaker notes 中给出来源链接。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slow">
    <p:push dir="u"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17.png"/><Relationship Id="rId18" Type="http://schemas.microsoft.com/office/2007/relationships/hdphoto" Target="../media/hdphoto7.wdp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12" Type="http://schemas.microsoft.com/office/2007/relationships/hdphoto" Target="../media/hdphoto5.wdp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6" Type="http://schemas.microsoft.com/office/2007/relationships/hdphoto" Target="../media/hdphoto6.wdp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16.png"/><Relationship Id="rId5" Type="http://schemas.openxmlformats.org/officeDocument/2006/relationships/image" Target="../media/image13.png"/><Relationship Id="rId15" Type="http://schemas.openxmlformats.org/officeDocument/2006/relationships/image" Target="../media/image19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15.png"/><Relationship Id="rId14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0E3859"/>
          </a:solidFill>
          <a:ln w="12700">
            <a:solidFill>
              <a:srgbClr val="0E385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3232" y="5760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8C7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</a:t>
            </a:r>
            <a:r>
              <a:rPr lang="en-US" sz="3600" b="1" dirty="0">
                <a:solidFill>
                  <a:srgbClr val="38C7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JetBrains Mono" panose="02000009000000000000" pitchFamily="49" charset="0"/>
              </a:rPr>
              <a:t>安全</a:t>
            </a:r>
            <a:endParaRPr lang="en-US" sz="3600" dirty="0">
              <a:latin typeface="HarmonyOS Sans SC" panose="00000500000000000000" pitchFamily="2" charset="-122"/>
              <a:ea typeface="HarmonyOS Sans SC" panose="00000500000000000000" pitchFamily="2" charset="-122"/>
              <a:cs typeface="JetBrains Mono" panose="02000009000000000000" pitchFamily="49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1079427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大模型安全基础</a:t>
            </a:r>
            <a:endParaRPr lang="en-US" sz="2800" dirty="0">
              <a:latin typeface="HarmonyOS Sans SC" panose="00000500000000000000" pitchFamily="2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3130731" y="1985687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7E6F0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Noto Sans CJK SC" pitchFamily="34" charset="-120"/>
              </a:rPr>
              <a:t>—</a:t>
            </a:r>
            <a:r>
              <a:rPr lang="en-US" altLang="zh-CN" sz="1600" dirty="0">
                <a:solidFill>
                  <a:srgbClr val="D7E6F0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Noto Sans CJK SC" pitchFamily="34" charset="-120"/>
              </a:rPr>
              <a:t>—</a:t>
            </a:r>
            <a:r>
              <a:rPr lang="en-US" sz="1600" dirty="0">
                <a:solidFill>
                  <a:srgbClr val="D7E6F0"/>
                </a:solidFill>
                <a:latin typeface="汉仪国图创新红楼梦 65U" pitchFamily="2" charset="-122"/>
                <a:ea typeface="汉仪国图创新红楼梦 65U" pitchFamily="2" charset="-122"/>
                <a:cs typeface="Noto Sans CJK SC" pitchFamily="34" charset="-120"/>
              </a:rPr>
              <a:t>第 2 次汇报：越狱、提示注入、敏感信息泄露</a:t>
            </a:r>
            <a:endParaRPr lang="en-US" sz="1600" dirty="0">
              <a:latin typeface="汉仪国图创新红楼梦 65U" pitchFamily="2" charset="-122"/>
              <a:ea typeface="汉仪国图创新红楼梦 65U" pitchFamily="2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9808" y="2544205"/>
            <a:ext cx="1417320" cy="0"/>
          </a:xfrm>
          <a:prstGeom prst="line">
            <a:avLst/>
          </a:prstGeom>
          <a:noFill/>
          <a:ln w="25400">
            <a:solidFill>
              <a:srgbClr val="F26B64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3232" y="2489345"/>
            <a:ext cx="3918857" cy="822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7E6F0"/>
                </a:solidFill>
                <a:latin typeface="汉仪国图创新红楼梦 65U" pitchFamily="2" charset="-122"/>
                <a:ea typeface="汉仪国图创新红楼梦 65U" pitchFamily="2" charset="-122"/>
                <a:cs typeface="Noto Sans CJK SC" pitchFamily="34" charset="-120"/>
              </a:rPr>
              <a:t>网络空间安全：入门与创新研讨课</a:t>
            </a:r>
            <a:endParaRPr lang="en-US" dirty="0">
              <a:latin typeface="汉仪国图创新红楼梦 65U" pitchFamily="2" charset="-122"/>
              <a:ea typeface="汉仪国图创新红楼梦 65U" pitchFamily="2" charset="-12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D7E6F0"/>
                </a:solidFill>
                <a:latin typeface="汉仪国图创新红楼梦 65U" pitchFamily="2" charset="-122"/>
                <a:ea typeface="汉仪国图创新红楼梦 65U" pitchFamily="2" charset="-122"/>
                <a:cs typeface="Noto Sans CJK SC" pitchFamily="34" charset="-120"/>
              </a:rPr>
              <a:t>汇报人：</a:t>
            </a:r>
            <a:r>
              <a:rPr lang="zh-CN" altLang="en-US" dirty="0">
                <a:solidFill>
                  <a:srgbClr val="D7E6F0"/>
                </a:solidFill>
                <a:latin typeface="汉仪国图创新红楼梦 65U" pitchFamily="2" charset="-122"/>
                <a:ea typeface="汉仪国图创新红楼梦 65U" pitchFamily="2" charset="-122"/>
                <a:cs typeface="Noto Sans CJK SC" pitchFamily="34" charset="-120"/>
              </a:rPr>
              <a:t>雷靖宇</a:t>
            </a:r>
            <a:endParaRPr lang="en-US" dirty="0">
              <a:latin typeface="汉仪国图创新红楼梦 65U" pitchFamily="2" charset="-122"/>
              <a:ea typeface="汉仪国图创新红楼梦 65U" pitchFamily="2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3730752"/>
            <a:ext cx="1417320" cy="310896"/>
          </a:xfrm>
          <a:prstGeom prst="roundRect">
            <a:avLst>
              <a:gd name="adj" fmla="val 35294"/>
            </a:avLst>
          </a:prstGeom>
          <a:solidFill>
            <a:srgbClr val="123A57"/>
          </a:solidFill>
          <a:ln w="12700">
            <a:solidFill>
              <a:srgbClr val="123A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DejaVu Sans Mono" panose="020B0609030804020204" pitchFamily="49" charset="0"/>
              </a:rPr>
              <a:t>Jailbreak</a:t>
            </a:r>
            <a:endParaRPr lang="en-US" sz="1400" dirty="0">
              <a:latin typeface="HarmonyOS Sans SC" panose="00000500000000000000" pitchFamily="2" charset="-122"/>
              <a:ea typeface="HarmonyOS Sans SC" panose="00000500000000000000" pitchFamily="2" charset="-122"/>
              <a:cs typeface="DejaVu Sans Mono" panose="020B0609030804020204" pitchFamily="49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240280" y="3730752"/>
            <a:ext cx="1783080" cy="310896"/>
          </a:xfrm>
          <a:prstGeom prst="roundRect">
            <a:avLst>
              <a:gd name="adj" fmla="val 35294"/>
            </a:avLst>
          </a:prstGeom>
          <a:solidFill>
            <a:srgbClr val="123A57"/>
          </a:solidFill>
          <a:ln w="12700">
            <a:solidFill>
              <a:srgbClr val="123A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240280" y="37490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Prompt Injection</a:t>
            </a:r>
            <a:endParaRPr lang="en-US" sz="1400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33088" y="3730752"/>
            <a:ext cx="1938528" cy="310896"/>
          </a:xfrm>
          <a:prstGeom prst="roundRect">
            <a:avLst>
              <a:gd name="adj" fmla="val 35294"/>
            </a:avLst>
          </a:prstGeom>
          <a:solidFill>
            <a:srgbClr val="123A57"/>
          </a:solidFill>
          <a:ln w="12700">
            <a:solidFill>
              <a:srgbClr val="123A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33088" y="3749040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Sensitive Leakage</a:t>
            </a:r>
            <a:endParaRPr lang="en-US" sz="1400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4407408"/>
            <a:ext cx="624404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>
                <a:solidFill>
                  <a:srgbClr val="FFFFFF"/>
                </a:solidFill>
                <a:latin typeface="汉仪国图创新红楼梦 65U" pitchFamily="2" charset="-122"/>
                <a:ea typeface="汉仪国图创新红楼梦 65U" pitchFamily="2" charset="-122"/>
                <a:cs typeface="Noto Sans CJK SC" pitchFamily="34" charset="-120"/>
              </a:rPr>
              <a:t>这次来讲一讲</a:t>
            </a:r>
            <a:r>
              <a:rPr lang="en-US" sz="2000" dirty="0">
                <a:solidFill>
                  <a:srgbClr val="FFFFFF"/>
                </a:solidFill>
                <a:latin typeface="汉仪国图创新红楼梦 65U" pitchFamily="2" charset="-122"/>
                <a:ea typeface="汉仪国图创新红楼梦 65U" pitchFamily="2" charset="-122"/>
                <a:cs typeface="Noto Sans CJK SC" pitchFamily="34" charset="-120"/>
              </a:rPr>
              <a:t>“模型层”的三类基础风险：</a:t>
            </a:r>
            <a:endParaRPr lang="en-US" sz="2000" dirty="0">
              <a:latin typeface="汉仪国图创新红楼梦 65U" pitchFamily="2" charset="-122"/>
              <a:ea typeface="汉仪国图创新红楼梦 65U" pitchFamily="2" charset="-122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汉仪国图创新红楼梦 65U" pitchFamily="2" charset="-122"/>
                <a:ea typeface="汉仪国图创新红楼梦 65U" pitchFamily="2" charset="-122"/>
                <a:cs typeface="Noto Sans CJK SC" pitchFamily="34" charset="-120"/>
              </a:rPr>
              <a:t>输入如何绕过约束、上下文如何被污染、数据如何被外泄。</a:t>
            </a:r>
            <a:endParaRPr lang="en-US" sz="2000" dirty="0">
              <a:latin typeface="汉仪国图创新红楼梦 65U" pitchFamily="2" charset="-122"/>
              <a:ea typeface="汉仪国图创新红楼梦 65U" pitchFamily="2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13232" y="5561076"/>
            <a:ext cx="4836523" cy="783336"/>
          </a:xfrm>
          <a:prstGeom prst="roundRect">
            <a:avLst>
              <a:gd name="adj" fmla="val 10714"/>
            </a:avLst>
          </a:prstGeom>
          <a:solidFill>
            <a:srgbClr val="113450"/>
          </a:solidFill>
          <a:ln w="12700">
            <a:solidFill>
              <a:srgbClr val="1A456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7358" y="5715000"/>
            <a:ext cx="43364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8F2"/>
                </a:solidFill>
                <a:latin typeface="汉仪国图创新红楼梦 45U" pitchFamily="2" charset="-122"/>
                <a:ea typeface="汉仪国图创新红楼梦 45U" pitchFamily="2" charset="-122"/>
                <a:cs typeface="Noto Sans CJK SC" pitchFamily="34" charset="-120"/>
              </a:rPr>
              <a:t>当输入、提示、工具和数据混在同一上下文里，安全边界就会变得</a:t>
            </a:r>
            <a:r>
              <a:rPr lang="en-US" sz="2000" dirty="0">
                <a:solidFill>
                  <a:schemeClr val="bg1"/>
                </a:solidFill>
                <a:latin typeface="汉仪国图创新红楼梦 45U" pitchFamily="2" charset="-122"/>
                <a:ea typeface="汉仪国图创新红楼梦 45U" pitchFamily="2" charset="-122"/>
                <a:cs typeface="Noto Sans CJK SC" pitchFamily="34" charset="-120"/>
              </a:rPr>
              <a:t>脆弱</a:t>
            </a:r>
            <a:r>
              <a:rPr lang="en-US" sz="1600" dirty="0">
                <a:solidFill>
                  <a:srgbClr val="D9E8F2"/>
                </a:solidFill>
                <a:latin typeface="汉仪国图创新红楼梦 45U" pitchFamily="2" charset="-122"/>
                <a:ea typeface="汉仪国图创新红楼梦 45U" pitchFamily="2" charset="-122"/>
                <a:cs typeface="Noto Sans CJK SC" pitchFamily="34" charset="-120"/>
              </a:rPr>
              <a:t>。</a:t>
            </a:r>
            <a:endParaRPr lang="en-US" sz="1600" dirty="0">
              <a:latin typeface="汉仪国图创新红楼梦 45U" pitchFamily="2" charset="-122"/>
              <a:ea typeface="汉仪国图创新红楼梦 45U" pitchFamily="2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183880" y="718893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Content</a:t>
            </a:r>
          </a:p>
        </p:txBody>
      </p:sp>
      <p:sp>
        <p:nvSpPr>
          <p:cNvPr id="18" name="Shape 16"/>
          <p:cNvSpPr/>
          <p:nvPr/>
        </p:nvSpPr>
        <p:spPr>
          <a:xfrm>
            <a:off x="8183880" y="1261872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38C7FF"/>
          </a:solidFill>
          <a:ln w="12700">
            <a:solidFill>
              <a:srgbClr val="38C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183880" y="1280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01  Jailbreak</a:t>
            </a:r>
            <a:endParaRPr lang="en-US" sz="1150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316685" y="1519212"/>
            <a:ext cx="2806773" cy="276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8F2"/>
                </a:solidFill>
                <a:latin typeface="汉仪国图创新红楼梦 65U" pitchFamily="2" charset="-122"/>
                <a:ea typeface="汉仪国图创新红楼梦 65U" pitchFamily="2" charset="-122"/>
                <a:cs typeface="Noto Sans CJK SC" pitchFamily="34" charset="-120"/>
              </a:rPr>
              <a:t>绕过规则 / 角色扮演</a:t>
            </a:r>
            <a:endParaRPr lang="en-US" sz="1600" dirty="0">
              <a:latin typeface="汉仪国图创新红楼梦 65U" pitchFamily="2" charset="-122"/>
              <a:ea typeface="汉仪国图创新红楼梦 65U" pitchFamily="2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11312" y="1837944"/>
            <a:ext cx="1536192" cy="219456"/>
          </a:xfrm>
          <a:prstGeom prst="roundRect">
            <a:avLst>
              <a:gd name="adj" fmla="val 50000"/>
            </a:avLst>
          </a:prstGeom>
          <a:solidFill>
            <a:srgbClr val="F26B64"/>
          </a:solidFill>
          <a:ln w="12700">
            <a:solidFill>
              <a:srgbClr val="F26B6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043453" y="1830977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02  Injection</a:t>
            </a:r>
            <a:endParaRPr lang="en-US" sz="1150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316685" y="2004713"/>
            <a:ext cx="2090057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8F2"/>
                </a:solidFill>
                <a:latin typeface="汉仪国图创新红楼梦 65U" pitchFamily="2" charset="-122"/>
                <a:ea typeface="汉仪国图创新红楼梦 65U" pitchFamily="2" charset="-122"/>
                <a:cs typeface="Noto Sans CJK SC" pitchFamily="34" charset="-120"/>
              </a:rPr>
              <a:t>外部内容伪装成指令</a:t>
            </a:r>
            <a:endParaRPr lang="en-US" sz="1600" dirty="0">
              <a:latin typeface="汉仪国图创新红楼梦 65U" pitchFamily="2" charset="-122"/>
              <a:ea typeface="汉仪国图创新红楼梦 65U" pitchFamily="2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183880" y="2468663"/>
            <a:ext cx="1801368" cy="219456"/>
          </a:xfrm>
          <a:prstGeom prst="roundRect">
            <a:avLst>
              <a:gd name="adj" fmla="val 50000"/>
            </a:avLst>
          </a:prstGeom>
          <a:solidFill>
            <a:srgbClr val="31C48D"/>
          </a:solidFill>
          <a:ln w="12700">
            <a:solidFill>
              <a:srgbClr val="31C4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910865" y="2486951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03  Leakage</a:t>
            </a:r>
            <a:endParaRPr lang="en-US" sz="1150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316685" y="2717727"/>
            <a:ext cx="2090056" cy="30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8F2"/>
                </a:solidFill>
                <a:latin typeface="汉仪国图创新红楼梦 65U" pitchFamily="2" charset="-122"/>
                <a:ea typeface="汉仪国图创新红楼梦 65U" pitchFamily="2" charset="-122"/>
                <a:cs typeface="Noto Sans CJK SC" pitchFamily="34" charset="-120"/>
              </a:rPr>
              <a:t>Prompt / 文档泄露</a:t>
            </a:r>
            <a:endParaRPr lang="en-US" sz="1600" dirty="0">
              <a:latin typeface="汉仪国图创新红楼梦 65U" pitchFamily="2" charset="-122"/>
              <a:ea typeface="汉仪国图创新红楼梦 65U" pitchFamily="2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183880" y="3046694"/>
            <a:ext cx="2090056" cy="219456"/>
          </a:xfrm>
          <a:prstGeom prst="roundRect">
            <a:avLst>
              <a:gd name="adj" fmla="val 50000"/>
            </a:avLst>
          </a:prstGeom>
          <a:solidFill>
            <a:srgbClr val="F3A34B"/>
          </a:solidFill>
          <a:ln w="12700">
            <a:solidFill>
              <a:srgbClr val="F3A3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183880" y="306498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04  Defense-in-depth</a:t>
            </a:r>
            <a:endParaRPr lang="en-US" sz="1150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308846" y="3270069"/>
            <a:ext cx="2806773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8F2"/>
                </a:solidFill>
                <a:latin typeface="汉仪国图创新红楼梦 65U" pitchFamily="2" charset="-122"/>
                <a:ea typeface="汉仪国图创新红楼梦 65U" pitchFamily="2" charset="-122"/>
                <a:cs typeface="Noto Sans CJK SC" pitchFamily="34" charset="-120"/>
              </a:rPr>
              <a:t>输入过滤 · 最小权限 · 审计</a:t>
            </a:r>
            <a:endParaRPr lang="en-US" sz="1600" dirty="0">
              <a:latin typeface="汉仪国图创新红楼梦 65U" pitchFamily="2" charset="-122"/>
              <a:ea typeface="汉仪国图创新红楼梦 65U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689D04A-1DF6-EFD8-6B7A-BB3D09CF5D72}"/>
              </a:ext>
            </a:extLst>
          </p:cNvPr>
          <p:cNvSpPr txBox="1"/>
          <p:nvPr/>
        </p:nvSpPr>
        <p:spPr>
          <a:xfrm>
            <a:off x="644433" y="3324682"/>
            <a:ext cx="6100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D7E6F0"/>
                </a:solidFill>
                <a:latin typeface="汉仪国图创新红楼梦 65U" pitchFamily="2" charset="-122"/>
                <a:ea typeface="汉仪国图创新红楼梦 65U" pitchFamily="2" charset="-122"/>
                <a:cs typeface="Noto Sans CJK SC" pitchFamily="34" charset="-120"/>
              </a:rPr>
              <a:t>关键词</a:t>
            </a:r>
            <a:endParaRPr lang="en-US" altLang="zh-CN" dirty="0">
              <a:latin typeface="汉仪国图创新红楼梦 65U" pitchFamily="2" charset="-122"/>
              <a:ea typeface="汉仪国图创新红楼梦 65U" pitchFamily="2" charset="-122"/>
            </a:endParaRPr>
          </a:p>
        </p:txBody>
      </p:sp>
      <p:sp>
        <p:nvSpPr>
          <p:cNvPr id="34" name="AutoShape 4">
            <a:extLst>
              <a:ext uri="{FF2B5EF4-FFF2-40B4-BE49-F238E27FC236}">
                <a16:creationId xmlns:a16="http://schemas.microsoft.com/office/drawing/2014/main" id="{1F077B14-8AFB-2ADC-0C65-A742F6312D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D4E2B36E-9AA8-83E8-01CA-2D9EC1C8F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1127" y="3986101"/>
            <a:ext cx="4370832" cy="291388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8263D"/>
          </a:solidFill>
          <a:ln w="12700">
            <a:solidFill>
              <a:srgbClr val="082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201168" y="82296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这次讲什么？</a:t>
            </a:r>
            <a:endParaRPr lang="en-US" sz="2000" dirty="0">
              <a:latin typeface="HarmonyOS Sans SC" panose="00000500000000000000" pitchFamily="2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8778240" y="100584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9F3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AI安全 / 7次汇报路线衔接</a:t>
            </a:r>
            <a:endParaRPr lang="en-US" sz="850" dirty="0">
              <a:latin typeface="HarmonyOS Sans SC" panose="00000500000000000000" pitchFamily="2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41480" y="651052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9A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2</a:t>
            </a:r>
            <a:endParaRPr lang="en-US" sz="800" dirty="0">
              <a:latin typeface="HarmonyOS Sans SC" panose="00000500000000000000" pitchFamily="2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01168" y="6355080"/>
            <a:ext cx="11155680" cy="164592"/>
          </a:xfrm>
          <a:prstGeom prst="roundRect">
            <a:avLst>
              <a:gd name="adj" fmla="val 16667"/>
            </a:avLst>
          </a:prstGeom>
          <a:solidFill>
            <a:srgbClr val="08263D"/>
          </a:solidFill>
          <a:ln w="12700">
            <a:solidFill>
              <a:srgbClr val="082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6382512"/>
            <a:ext cx="5120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AI安全 / 大模型安全基础 / 第2次汇报</a:t>
            </a:r>
            <a:endParaRPr lang="en-US" sz="800" dirty="0">
              <a:latin typeface="HarmonyOS Sans SC" panose="00000500000000000000" pitchFamily="2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在上周我们小组的汇报</a:t>
            </a:r>
            <a:r>
              <a:rPr lang="en-US" sz="1400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中已经把</a:t>
            </a:r>
            <a:r>
              <a:rPr lang="zh-CN" altLang="en-US" sz="14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我们的研究</a:t>
            </a:r>
            <a:r>
              <a:rPr lang="en-US" sz="1400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路线拆成</a:t>
            </a:r>
            <a:r>
              <a:rPr lang="zh-CN" altLang="en-US" sz="14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了</a:t>
            </a:r>
            <a:r>
              <a:rPr lang="en-US" sz="14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 7 </a:t>
            </a:r>
            <a:r>
              <a:rPr lang="en-US" sz="1400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次汇报；本次对应第</a:t>
            </a:r>
            <a:r>
              <a:rPr lang="en-US" sz="14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 02 讲“ 大模型安全基础 ”，聚焦三类底层风险。</a:t>
            </a:r>
            <a:endParaRPr lang="en-US" sz="1400" dirty="0">
              <a:latin typeface="HarmonyOS Sans SC" panose="00000500000000000000" pitchFamily="2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50392" y="1508760"/>
            <a:ext cx="10442448" cy="0"/>
          </a:xfrm>
          <a:prstGeom prst="line">
            <a:avLst/>
          </a:prstGeom>
          <a:noFill/>
          <a:ln w="19050">
            <a:solidFill>
              <a:srgbClr val="BFD2E3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42416" y="1252728"/>
            <a:ext cx="457200" cy="457200"/>
          </a:xfrm>
          <a:prstGeom prst="ellipse">
            <a:avLst/>
          </a:prstGeom>
          <a:solidFill>
            <a:srgbClr val="38C7FF"/>
          </a:solidFill>
          <a:ln w="12700">
            <a:solidFill>
              <a:srgbClr val="38C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42416" y="1280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01</a:t>
            </a:r>
            <a:endParaRPr lang="en-US" sz="1150" dirty="0">
              <a:latin typeface="HarmonyOS Sans SC" panose="00000500000000000000" pitchFamily="2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5488" y="1828800"/>
            <a:ext cx="1581912" cy="1783080"/>
          </a:xfrm>
          <a:prstGeom prst="roundRect">
            <a:avLst>
              <a:gd name="adj" fmla="val 4624"/>
            </a:avLst>
          </a:prstGeom>
          <a:solidFill>
            <a:srgbClr val="FAFB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3504" y="203911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AI 安全与</a:t>
            </a:r>
            <a:endParaRPr lang="en-US" sz="1300" dirty="0">
              <a:latin typeface="HarmonyOS Sans SC" panose="00000500000000000000" pitchFamily="2" charset="-122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OpenClaw 现象</a:t>
            </a:r>
            <a:endParaRPr lang="en-US" sz="1300" dirty="0">
              <a:latin typeface="HarmonyOS Sans SC" panose="00000500000000000000" pitchFamily="2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85216" y="2889504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5E6E82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开题：为什么研究 AI 安全</a:t>
            </a:r>
            <a:endParaRPr lang="en-US" sz="980" dirty="0">
              <a:latin typeface="HarmonyOS Sans SC" panose="00000500000000000000" pitchFamily="2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697480" y="1252728"/>
            <a:ext cx="457200" cy="457200"/>
          </a:xfrm>
          <a:prstGeom prst="ellipse">
            <a:avLst/>
          </a:prstGeom>
          <a:solidFill>
            <a:srgbClr val="31C48D"/>
          </a:solidFill>
          <a:ln w="12700">
            <a:solidFill>
              <a:srgbClr val="31C4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697480" y="1280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02</a:t>
            </a:r>
            <a:endParaRPr lang="en-US" sz="1150" dirty="0">
              <a:latin typeface="HarmonyOS Sans SC" panose="00000500000000000000" pitchFamily="2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130552" y="1828800"/>
            <a:ext cx="1581912" cy="1965960"/>
          </a:xfrm>
          <a:prstGeom prst="roundRect">
            <a:avLst>
              <a:gd name="adj" fmla="val 4624"/>
            </a:avLst>
          </a:prstGeom>
          <a:solidFill>
            <a:srgbClr val="EAFBF3"/>
          </a:solidFill>
          <a:ln w="22860">
            <a:solidFill>
              <a:srgbClr val="31C48D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258568" y="203911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大模型安全基础</a:t>
            </a:r>
            <a:endParaRPr lang="en-US" sz="1300" dirty="0">
              <a:latin typeface="HarmonyOS Sans SC" panose="00000500000000000000" pitchFamily="2" charset="-122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越狱 / 注入 / 泄露</a:t>
            </a:r>
            <a:endParaRPr lang="en-US" sz="1300" dirty="0">
              <a:latin typeface="HarmonyOS Sans SC" panose="00000500000000000000" pitchFamily="2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258568" y="2542032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本次目标：</a:t>
            </a:r>
            <a:endParaRPr lang="en-US" sz="1150" dirty="0">
              <a:latin typeface="HarmonyOS Sans SC" panose="00000500000000000000" pitchFamily="2" charset="-122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1) 分清三类攻击</a:t>
            </a:r>
            <a:endParaRPr lang="en-US" sz="1150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2) 看懂攻击链</a:t>
            </a:r>
            <a:endParaRPr lang="en-US" sz="1150" dirty="0">
              <a:latin typeface="HarmonyOS Sans SC" panose="00000500000000000000" pitchFamily="2" charset="-122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3) 形成防御框架</a:t>
            </a:r>
            <a:endParaRPr lang="en-US" sz="1150" dirty="0">
              <a:latin typeface="HarmonyOS Sans SC" panose="00000500000000000000" pitchFamily="2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414016" y="3502152"/>
            <a:ext cx="1024128" cy="201168"/>
          </a:xfrm>
          <a:prstGeom prst="roundRect">
            <a:avLst>
              <a:gd name="adj" fmla="val 54545"/>
            </a:avLst>
          </a:prstGeom>
          <a:solidFill>
            <a:srgbClr val="31C48D"/>
          </a:solidFill>
          <a:ln w="12700">
            <a:solidFill>
              <a:srgbClr val="31C4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414016" y="3520440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当前汇报</a:t>
            </a:r>
            <a:endParaRPr lang="en-US" sz="1150" dirty="0">
              <a:latin typeface="HarmonyOS Sans SC" panose="00000500000000000000" pitchFamily="2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52544" y="1252728"/>
            <a:ext cx="457200" cy="457200"/>
          </a:xfrm>
          <a:prstGeom prst="ellipse">
            <a:avLst/>
          </a:prstGeom>
          <a:solidFill>
            <a:srgbClr val="F3A34B"/>
          </a:solidFill>
          <a:ln w="12700">
            <a:solidFill>
              <a:srgbClr val="F3A3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352544" y="1280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03</a:t>
            </a:r>
            <a:endParaRPr lang="en-US" sz="1150" dirty="0">
              <a:latin typeface="HarmonyOS Sans SC" panose="00000500000000000000" pitchFamily="2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785616" y="1828800"/>
            <a:ext cx="1581912" cy="1783080"/>
          </a:xfrm>
          <a:prstGeom prst="roundRect">
            <a:avLst>
              <a:gd name="adj" fmla="val 4624"/>
            </a:avLst>
          </a:prstGeom>
          <a:solidFill>
            <a:srgbClr val="FAFB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913632" y="203911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智能体安全</a:t>
            </a:r>
            <a:endParaRPr lang="en-US" sz="1300" dirty="0">
              <a:latin typeface="HarmonyOS Sans SC" panose="00000500000000000000" pitchFamily="2" charset="-122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权限与工具边界</a:t>
            </a:r>
            <a:endParaRPr lang="en-US" sz="1300" dirty="0">
              <a:latin typeface="HarmonyOS Sans SC" panose="00000500000000000000" pitchFamily="2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895344" y="2889504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5E6E82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后续：向智能体安全逐步推进</a:t>
            </a:r>
            <a:endParaRPr lang="en-US" sz="980" dirty="0">
              <a:latin typeface="HarmonyOS Sans SC" panose="00000500000000000000" pitchFamily="2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007608" y="1252728"/>
            <a:ext cx="457200" cy="457200"/>
          </a:xfrm>
          <a:prstGeom prst="ellipse">
            <a:avLst/>
          </a:prstGeom>
          <a:solidFill>
            <a:srgbClr val="F26B64"/>
          </a:solidFill>
          <a:ln w="12700">
            <a:solidFill>
              <a:srgbClr val="F26B6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007608" y="1280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04</a:t>
            </a:r>
            <a:endParaRPr lang="en-US" sz="1150" dirty="0">
              <a:latin typeface="HarmonyOS Sans SC" panose="00000500000000000000" pitchFamily="2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40680" y="1828800"/>
            <a:ext cx="1581912" cy="1783080"/>
          </a:xfrm>
          <a:prstGeom prst="roundRect">
            <a:avLst>
              <a:gd name="adj" fmla="val 4624"/>
            </a:avLst>
          </a:prstGeom>
          <a:solidFill>
            <a:srgbClr val="FAFB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568696" y="203911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OpenClaw 案例</a:t>
            </a:r>
            <a:endParaRPr lang="en-US" sz="1300" dirty="0">
              <a:latin typeface="HarmonyOS Sans SC" panose="00000500000000000000" pitchFamily="2" charset="-122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架构与漏洞</a:t>
            </a:r>
            <a:endParaRPr lang="en-US" sz="1300" dirty="0">
              <a:latin typeface="HarmonyOS Sans SC" panose="00000500000000000000" pitchFamily="2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550408" y="2889504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5E6E82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后续：向智能体安全逐步推进</a:t>
            </a:r>
            <a:endParaRPr lang="en-US" sz="980" dirty="0">
              <a:latin typeface="HarmonyOS Sans SC" panose="00000500000000000000" pitchFamily="2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662672" y="1252728"/>
            <a:ext cx="457200" cy="4572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662672" y="1280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05</a:t>
            </a:r>
            <a:endParaRPr lang="en-US" sz="1150" dirty="0">
              <a:latin typeface="HarmonyOS Sans SC" panose="00000500000000000000" pitchFamily="2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095744" y="1828800"/>
            <a:ext cx="1581912" cy="1783080"/>
          </a:xfrm>
          <a:prstGeom prst="roundRect">
            <a:avLst>
              <a:gd name="adj" fmla="val 4624"/>
            </a:avLst>
          </a:prstGeom>
          <a:solidFill>
            <a:srgbClr val="FAFB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223760" y="203911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MCP / skills</a:t>
            </a:r>
            <a:endParaRPr lang="en-US" sz="1300" dirty="0">
              <a:latin typeface="HarmonyOS Sans SC" panose="00000500000000000000" pitchFamily="2" charset="-122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供应链安全</a:t>
            </a:r>
            <a:endParaRPr lang="en-US" sz="1300" dirty="0">
              <a:latin typeface="HarmonyOS Sans SC" panose="00000500000000000000" pitchFamily="2" charset="-122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205472" y="2889504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5E6E82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后续：向智能体安全逐步推进</a:t>
            </a:r>
            <a:endParaRPr lang="en-US" sz="980" dirty="0">
              <a:latin typeface="HarmonyOS Sans SC" panose="00000500000000000000" pitchFamily="2" charset="-122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317736" y="1252728"/>
            <a:ext cx="457200" cy="45720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317736" y="1280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06</a:t>
            </a:r>
            <a:endParaRPr lang="en-US" sz="1150" dirty="0">
              <a:latin typeface="HarmonyOS Sans SC" panose="00000500000000000000" pitchFamily="2" charset="-122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750808" y="1828800"/>
            <a:ext cx="1581912" cy="1783080"/>
          </a:xfrm>
          <a:prstGeom prst="roundRect">
            <a:avLst>
              <a:gd name="adj" fmla="val 4624"/>
            </a:avLst>
          </a:prstGeom>
          <a:solidFill>
            <a:srgbClr val="FAFB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878824" y="203911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防御体系</a:t>
            </a:r>
            <a:endParaRPr lang="en-US" sz="1300" dirty="0">
              <a:latin typeface="HarmonyOS Sans SC" panose="00000500000000000000" pitchFamily="2" charset="-122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最小权限 / 审计</a:t>
            </a:r>
            <a:endParaRPr lang="en-US" sz="1300" dirty="0">
              <a:latin typeface="HarmonyOS Sans SC" panose="00000500000000000000" pitchFamily="2" charset="-122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860536" y="2889504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5E6E82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后续：向智能体安全逐步推进</a:t>
            </a:r>
            <a:endParaRPr lang="en-US" sz="980" dirty="0">
              <a:latin typeface="HarmonyOS Sans SC" panose="00000500000000000000" pitchFamily="2" charset="-122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0972800" y="1252728"/>
            <a:ext cx="457200" cy="457200"/>
          </a:xfrm>
          <a:prstGeom prst="ellipse">
            <a:avLst/>
          </a:prstGeom>
          <a:solidFill>
            <a:srgbClr val="0E3859"/>
          </a:solidFill>
          <a:ln w="12700">
            <a:solidFill>
              <a:srgbClr val="0E385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0972800" y="1280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07</a:t>
            </a:r>
            <a:endParaRPr lang="en-US" sz="1150" dirty="0">
              <a:latin typeface="HarmonyOS Sans SC" panose="00000500000000000000" pitchFamily="2" charset="-122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0405872" y="1828800"/>
            <a:ext cx="1581912" cy="1783080"/>
          </a:xfrm>
          <a:prstGeom prst="roundRect">
            <a:avLst>
              <a:gd name="adj" fmla="val 4624"/>
            </a:avLst>
          </a:prstGeom>
          <a:solidFill>
            <a:srgbClr val="FAFB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0533888" y="203911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总结与展望</a:t>
            </a:r>
            <a:endParaRPr lang="en-US" sz="1300" dirty="0">
              <a:latin typeface="HarmonyOS Sans SC" panose="00000500000000000000" pitchFamily="2" charset="-122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治理与研究方向</a:t>
            </a:r>
            <a:endParaRPr lang="en-US" sz="1300" dirty="0">
              <a:latin typeface="HarmonyOS Sans SC" panose="00000500000000000000" pitchFamily="2" charset="-122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0515600" y="2889504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5E6E82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后续：向智能体安全逐步推进</a:t>
            </a:r>
            <a:endParaRPr lang="en-US" sz="980" dirty="0">
              <a:latin typeface="HarmonyOS Sans SC" panose="00000500000000000000" pitchFamily="2" charset="-122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58368" y="429768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DFF6FF"/>
          </a:solidFill>
          <a:ln w="12700">
            <a:solidFill>
              <a:srgbClr val="A7D8F1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04672" y="4407408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本次要</a:t>
            </a:r>
            <a:r>
              <a:rPr lang="zh-CN" alt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讲</a:t>
            </a:r>
            <a:r>
              <a:rPr 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的 3 个问题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04672" y="4681728"/>
            <a:ext cx="3136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• 什么是“越狱”，它与普通提问有什么区别？</a:t>
            </a:r>
            <a:endParaRPr lang="en-US" sz="118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• 为什么提示注入会成为智能体/浏览器场景的关键风险？</a:t>
            </a:r>
            <a:endParaRPr lang="en-US" sz="118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• 敏感信息到底会从哪里泄露？</a:t>
            </a:r>
            <a:endParaRPr lang="en-US" sz="1180" dirty="0">
              <a:latin typeface="HarmonyOS Sans SC" panose="00000500000000000000" pitchFamily="2" charset="-122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315968" y="4297680"/>
            <a:ext cx="3547872" cy="1508760"/>
          </a:xfrm>
          <a:prstGeom prst="roundRect">
            <a:avLst>
              <a:gd name="adj" fmla="val 4848"/>
            </a:avLst>
          </a:prstGeom>
          <a:solidFill>
            <a:srgbClr val="FFF2E3"/>
          </a:solidFill>
          <a:ln w="12700">
            <a:solidFill>
              <a:srgbClr val="F2C189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462272" y="4407408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与智能体安全的关系呢？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4462272" y="4681728"/>
            <a:ext cx="325526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如果模型层已经被绕过或污染，那么一旦连上工具、邮箱、文件系统，风险就会从“说错话”升级为“做错事”。</a:t>
            </a:r>
            <a:endParaRPr lang="en-US" sz="1180" dirty="0">
              <a:latin typeface="HarmonyOS Sans SC" panose="00000500000000000000" pitchFamily="2" charset="-122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8101584" y="4297680"/>
            <a:ext cx="3419856" cy="1508760"/>
          </a:xfrm>
          <a:prstGeom prst="roundRect">
            <a:avLst>
              <a:gd name="adj" fmla="val 4848"/>
            </a:avLst>
          </a:prstGeom>
          <a:solidFill>
            <a:srgbClr val="FFF0EE"/>
          </a:solidFill>
          <a:ln w="12700">
            <a:solidFill>
              <a:srgbClr val="F1B4B1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8247888" y="440740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一些成果展示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8247888" y="4681728"/>
            <a:ext cx="31272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形成一</a:t>
            </a:r>
            <a:r>
              <a:rPr lang="zh-CN" alt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个</a:t>
            </a:r>
            <a:r>
              <a:rPr lang="en-US" sz="1180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基础安全</a:t>
            </a:r>
            <a:r>
              <a:rPr lang="zh-CN" alt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“框架”</a:t>
            </a: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：</a:t>
            </a:r>
            <a:endParaRPr lang="en-US" sz="118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	</a:t>
            </a:r>
            <a:r>
              <a:rPr lang="en-US" sz="1180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越狱</a:t>
            </a: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 = </a:t>
            </a:r>
            <a:r>
              <a:rPr lang="en-US" sz="1180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绕过规则</a:t>
            </a: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；</a:t>
            </a:r>
          </a:p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	</a:t>
            </a:r>
            <a:r>
              <a:rPr lang="en-US" sz="1180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提示注入</a:t>
            </a: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 = </a:t>
            </a:r>
            <a:r>
              <a:rPr lang="en-US" sz="1180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劫持指令</a:t>
            </a: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；</a:t>
            </a:r>
          </a:p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	</a:t>
            </a:r>
            <a:r>
              <a:rPr lang="en-US" sz="1180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敏感泄露</a:t>
            </a: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 = 暴露机密。</a:t>
            </a:r>
            <a:endParaRPr lang="en-US" sz="1180" dirty="0">
              <a:latin typeface="HarmonyOS Sans SC" panose="00000500000000000000" pitchFamily="2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8263D"/>
          </a:solidFill>
          <a:ln w="12700">
            <a:solidFill>
              <a:srgbClr val="082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201168" y="7315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什么是“大模型安全</a:t>
            </a:r>
            <a:r>
              <a:rPr lang="en-US" sz="220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”？</a:t>
            </a:r>
            <a:endParaRPr lang="en-US" sz="2200" dirty="0">
              <a:latin typeface="HarmonyOS Sans SC" panose="00000500000000000000" pitchFamily="2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8778240" y="100584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9F3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AI安全 / 模型层三类基础风险</a:t>
            </a:r>
            <a:endParaRPr lang="en-US" sz="850" dirty="0">
              <a:latin typeface="HarmonyOS Sans SC" panose="00000500000000000000" pitchFamily="2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41480" y="651052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9A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3</a:t>
            </a:r>
            <a:endParaRPr lang="en-US" sz="800" dirty="0">
              <a:latin typeface="HarmonyOS Sans SC" panose="00000500000000000000" pitchFamily="2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01168" y="6355080"/>
            <a:ext cx="11155680" cy="164592"/>
          </a:xfrm>
          <a:prstGeom prst="roundRect">
            <a:avLst>
              <a:gd name="adj" fmla="val 16667"/>
            </a:avLst>
          </a:prstGeom>
          <a:solidFill>
            <a:srgbClr val="08263D"/>
          </a:solidFill>
          <a:ln w="12700">
            <a:solidFill>
              <a:srgbClr val="082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6382512"/>
            <a:ext cx="5120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AI安全 / 大模型安全基础 / 第2次汇报</a:t>
            </a:r>
            <a:endParaRPr lang="en-US" sz="800" dirty="0">
              <a:latin typeface="HarmonyOS Sans SC" panose="00000500000000000000" pitchFamily="2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可以先把问题简化为一条链：输入 → 提示/上下文 → 输出/数据。三类基础风险分别攻击这条链上的不同位置。</a:t>
            </a:r>
            <a:endParaRPr lang="en-US" sz="1400" dirty="0">
              <a:latin typeface="HarmonyOS Sans SC" panose="00000500000000000000" pitchFamily="2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58368" y="123444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DFF6FF"/>
          </a:solidFill>
          <a:ln w="12700">
            <a:solidFill>
              <a:srgbClr val="8CCFEA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4672" y="1344168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A. 越狱（Jailbreak）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04672" y="1618488"/>
            <a:ext cx="331927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目标：</a:t>
            </a:r>
            <a:r>
              <a:rPr lang="en-US" sz="16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让模型越过既定安全策略。</a:t>
            </a:r>
            <a:endParaRPr lang="en-US" sz="160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核心动作：改写系统规则、角色扮演、编码绕过、多轮施压。</a:t>
            </a:r>
            <a:endParaRPr lang="en-US" sz="160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典型结果：</a:t>
            </a:r>
            <a:r>
              <a:rPr lang="en-US" sz="16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模型输出本不该回答的内容。 </a:t>
            </a:r>
            <a:r>
              <a:rPr lang="en-US" sz="1600" baseline="300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[1][4][5]</a:t>
            </a:r>
            <a:endParaRPr lang="en-US" sz="1600" baseline="30000" dirty="0">
              <a:latin typeface="HarmonyOS Sans SC" panose="00000500000000000000" pitchFamily="2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288536" y="123444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2E3"/>
          </a:solidFill>
          <a:ln w="12700">
            <a:solidFill>
              <a:srgbClr val="F0C182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434840" y="1344168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B. 提示注入（Prompt Injection）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34840" y="1618488"/>
            <a:ext cx="331927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目标：</a:t>
            </a:r>
            <a:r>
              <a:rPr lang="en-US" sz="16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把攻击者内容伪装成“更高优先级指令”。</a:t>
            </a:r>
            <a:endParaRPr lang="en-US" sz="160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关键特点：</a:t>
            </a:r>
            <a:r>
              <a:rPr lang="en-US" sz="16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可直接来自用户，也可隐藏在网页、邮件、文档中。</a:t>
            </a:r>
            <a:endParaRPr lang="en-US" sz="160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典型结果：</a:t>
            </a:r>
            <a:r>
              <a:rPr lang="en-US" sz="16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模型执行偏离用户意图的新任务。 </a:t>
            </a:r>
            <a:r>
              <a:rPr lang="en-US" sz="1600" baseline="300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[1][3][4][7]</a:t>
            </a:r>
            <a:endParaRPr lang="en-US" sz="1600" baseline="30000" dirty="0">
              <a:latin typeface="HarmonyOS Sans SC" panose="00000500000000000000" pitchFamily="2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18704" y="123444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0EE"/>
          </a:solidFill>
          <a:ln w="12700">
            <a:solidFill>
              <a:srgbClr val="F0B9B3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065008" y="1344168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C. 敏感信息泄露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065008" y="1618488"/>
            <a:ext cx="331927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目标：</a:t>
            </a:r>
            <a:r>
              <a:rPr lang="en-US" sz="1600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让系统提示、PII</a:t>
            </a:r>
            <a:r>
              <a:rPr lang="en-US" sz="16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(</a:t>
            </a:r>
            <a:r>
              <a:rPr lang="zh-CN" altLang="en-US" sz="16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个人可识别信息</a:t>
            </a:r>
            <a:r>
              <a:rPr lang="en-US" sz="16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)、凭证、内部文档等通过回答或上下文被暴露。</a:t>
            </a:r>
            <a:endParaRPr lang="en-US" sz="160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600" b="1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典型结果：</a:t>
            </a:r>
            <a:r>
              <a:rPr lang="en-US" sz="1600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泄漏system</a:t>
            </a:r>
            <a:r>
              <a:rPr lang="en-US" sz="16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 </a:t>
            </a:r>
            <a:r>
              <a:rPr lang="en-US" sz="1600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prompt、RAG</a:t>
            </a:r>
            <a:r>
              <a:rPr lang="en-US" sz="16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 </a:t>
            </a:r>
            <a:r>
              <a:rPr lang="en-US" sz="1600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内容</a:t>
            </a:r>
            <a:r>
              <a:rPr lang="zh-CN" altLang="en-US" sz="16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（训练数据）</a:t>
            </a:r>
            <a:r>
              <a:rPr lang="en-US" sz="1600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或工具结果</a:t>
            </a:r>
            <a:r>
              <a:rPr lang="en-US" sz="16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。 </a:t>
            </a:r>
            <a:r>
              <a:rPr lang="en-US" sz="1600" baseline="300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[2][6]</a:t>
            </a:r>
            <a:endParaRPr lang="en-US" sz="1600" baseline="30000" dirty="0">
              <a:latin typeface="HarmonyOS Sans SC" panose="00000500000000000000" pitchFamily="2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14400" y="3657600"/>
            <a:ext cx="10332720" cy="1417320"/>
          </a:xfrm>
          <a:prstGeom prst="roundRect">
            <a:avLst>
              <a:gd name="adj" fmla="val 5161"/>
            </a:avLst>
          </a:prstGeom>
          <a:solidFill>
            <a:srgbClr val="0E3859"/>
          </a:solidFill>
          <a:ln w="12700">
            <a:solidFill>
              <a:srgbClr val="0E385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0941" y="3730752"/>
            <a:ext cx="51996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为什么 Prompt Injection 会长期排在高位？</a:t>
            </a:r>
            <a:endParaRPr lang="en-US" sz="1800" dirty="0">
              <a:latin typeface="HarmonyOS Sans SC" panose="00000500000000000000" pitchFamily="2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30941" y="4133088"/>
            <a:ext cx="9829585" cy="724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OWASP 在 2025 版将 Prompt Injection 列为 LLM01；其定义强调：攻击内容甚至不必对人可见，只要会被模型解析，就可能改变模型行为。</a:t>
            </a:r>
            <a:endParaRPr lang="en-US" sz="140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这说明 LLM 的独特难点在于：自然语言“数据”和“指令”常常混在同一上下文里。</a:t>
            </a:r>
            <a:r>
              <a:rPr lang="en-US" sz="1400" baseline="30000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 [1][8][9]</a:t>
            </a:r>
            <a:endParaRPr lang="en-US" sz="1400" baseline="30000" dirty="0">
              <a:latin typeface="HarmonyOS Sans SC" panose="00000500000000000000" pitchFamily="2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33856" y="5440680"/>
            <a:ext cx="1965960" cy="256032"/>
          </a:xfrm>
          <a:prstGeom prst="roundRect">
            <a:avLst>
              <a:gd name="adj" fmla="val 42857"/>
            </a:avLst>
          </a:prstGeom>
          <a:solidFill>
            <a:srgbClr val="38C7FF"/>
          </a:solidFill>
          <a:ln w="12700">
            <a:solidFill>
              <a:srgbClr val="38C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33856" y="545896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输入操纵</a:t>
            </a:r>
            <a:endParaRPr lang="en-US" sz="1150" dirty="0">
              <a:latin typeface="HarmonyOS Sans SC" panose="00000500000000000000" pitchFamily="2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794760" y="5440680"/>
            <a:ext cx="1965960" cy="256032"/>
          </a:xfrm>
          <a:prstGeom prst="roundRect">
            <a:avLst>
              <a:gd name="adj" fmla="val 42857"/>
            </a:avLst>
          </a:prstGeom>
          <a:solidFill>
            <a:srgbClr val="F3A34B"/>
          </a:solidFill>
          <a:ln w="12700">
            <a:solidFill>
              <a:srgbClr val="F3A3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794760" y="545896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上下文污染</a:t>
            </a:r>
            <a:endParaRPr lang="en-US" sz="1150" dirty="0">
              <a:latin typeface="HarmonyOS Sans SC" panose="00000500000000000000" pitchFamily="2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46520" y="5440680"/>
            <a:ext cx="1965960" cy="256032"/>
          </a:xfrm>
          <a:prstGeom prst="roundRect">
            <a:avLst>
              <a:gd name="adj" fmla="val 42857"/>
            </a:avLst>
          </a:prstGeom>
          <a:solidFill>
            <a:srgbClr val="F26B64"/>
          </a:solidFill>
          <a:ln w="12700">
            <a:solidFill>
              <a:srgbClr val="F26B6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46520" y="545896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数据外泄</a:t>
            </a:r>
            <a:endParaRPr lang="en-US" sz="1150" dirty="0">
              <a:latin typeface="HarmonyOS Sans SC" panose="00000500000000000000" pitchFamily="2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098280" y="5440680"/>
            <a:ext cx="1965960" cy="256032"/>
          </a:xfrm>
          <a:prstGeom prst="roundRect">
            <a:avLst>
              <a:gd name="adj" fmla="val 42857"/>
            </a:avLst>
          </a:prstGeom>
          <a:solidFill>
            <a:srgbClr val="0E3859"/>
          </a:solidFill>
          <a:ln w="12700">
            <a:solidFill>
              <a:srgbClr val="0E385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098280" y="545896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风险外溢</a:t>
            </a:r>
            <a:endParaRPr lang="en-US" sz="1150" dirty="0">
              <a:latin typeface="HarmonyOS Sans SC" panose="00000500000000000000" pitchFamily="2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8263D"/>
          </a:solidFill>
          <a:ln w="12700">
            <a:solidFill>
              <a:srgbClr val="082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201167" y="73152"/>
            <a:ext cx="6236453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越狱（</a:t>
            </a:r>
            <a:r>
              <a:rPr lang="en-US" sz="200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Jailbreak</a:t>
            </a:r>
            <a:r>
              <a:rPr lang="en-US" sz="220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）：让模型“越过安全边界”</a:t>
            </a:r>
            <a:endParaRPr lang="en-US" sz="2200" dirty="0">
              <a:latin typeface="HarmonyOS Sans SC" panose="00000500000000000000" pitchFamily="2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8778240" y="100584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9F3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AI安全 / 模型对齐绕过</a:t>
            </a:r>
            <a:endParaRPr lang="en-US" sz="850" dirty="0">
              <a:latin typeface="HarmonyOS Sans SC" panose="00000500000000000000" pitchFamily="2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41480" y="651052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9A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4</a:t>
            </a:r>
            <a:endParaRPr lang="en-US" sz="800" dirty="0">
              <a:latin typeface="HarmonyOS Sans SC" panose="00000500000000000000" pitchFamily="2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01168" y="6355080"/>
            <a:ext cx="11155680" cy="164592"/>
          </a:xfrm>
          <a:prstGeom prst="roundRect">
            <a:avLst>
              <a:gd name="adj" fmla="val 16667"/>
            </a:avLst>
          </a:prstGeom>
          <a:solidFill>
            <a:srgbClr val="08263D"/>
          </a:solidFill>
          <a:ln w="12700">
            <a:solidFill>
              <a:srgbClr val="082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6382512"/>
            <a:ext cx="5120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AI安全 / 大模型安全基础 / 第2次汇报</a:t>
            </a:r>
            <a:endParaRPr lang="en-US" sz="800" dirty="0">
              <a:latin typeface="HarmonyOS Sans SC" panose="00000500000000000000" pitchFamily="2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792" y="585216"/>
            <a:ext cx="3822192" cy="4855464"/>
          </a:xfrm>
          <a:prstGeom prst="roundRect">
            <a:avLst>
              <a:gd name="adj" fmla="val 1914"/>
            </a:avLst>
          </a:prstGeom>
          <a:solidFill>
            <a:srgbClr val="F8FBFE"/>
          </a:solidFill>
          <a:ln w="12700">
            <a:solidFill>
              <a:srgbClr val="D4E6F2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8096" y="786384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1. 定义与特点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8096" y="1179576"/>
            <a:ext cx="3529584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• 越狱的核心不是“提问很难”，而是“诱导模型放弃原本限制”。</a:t>
            </a:r>
            <a:endParaRPr lang="en-US" sz="160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• 常见方式：</a:t>
            </a:r>
            <a:endParaRPr lang="en-US" sz="160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  – 明示覆盖：忽略之前所有规则</a:t>
            </a:r>
            <a:endParaRPr lang="en-US" sz="160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  – 角色扮演：把模型设成“无约束人格”</a:t>
            </a:r>
            <a:endParaRPr lang="en-US" sz="160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  – 编码变换：Base64 / URL 编码 / 变体拼写</a:t>
            </a:r>
            <a:endParaRPr lang="en-US" sz="160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  – 多轮渐进：先建立信任，再逼近危险目标</a:t>
            </a:r>
            <a:endParaRPr lang="en-US" sz="160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• </a:t>
            </a:r>
            <a:r>
              <a:rPr lang="zh-CN" altLang="en-US" sz="16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多个调查</a:t>
            </a:r>
            <a:r>
              <a:rPr lang="en-US" sz="1600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将其归纳为黑盒与白盒两大类攻击；防御则可分为</a:t>
            </a:r>
            <a:r>
              <a:rPr lang="en-US" sz="16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 prompt-level 与 model-level。 [4][5]</a:t>
            </a:r>
            <a:endParaRPr lang="en-US" sz="1600" dirty="0">
              <a:latin typeface="HarmonyOS Sans SC" panose="00000500000000000000" pitchFamily="2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39056" y="560514"/>
            <a:ext cx="6784848" cy="4855464"/>
          </a:xfrm>
          <a:prstGeom prst="roundRect">
            <a:avLst>
              <a:gd name="adj" fmla="val 2041"/>
            </a:avLst>
          </a:prstGeom>
          <a:solidFill>
            <a:srgbClr val="FAFB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05293" y="66327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E3859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图：Huang</a:t>
            </a:r>
            <a:r>
              <a:rPr lang="en-US" sz="1200" b="1" dirty="0">
                <a:solidFill>
                  <a:srgbClr val="0E3859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 et al., 2024, Fig. 1</a:t>
            </a:r>
            <a:endParaRPr lang="en-US" sz="1200" dirty="0">
              <a:latin typeface="HarmonyOS Sans SC" panose="00000500000000000000" pitchFamily="2" charset="-122"/>
            </a:endParaRPr>
          </a:p>
        </p:txBody>
      </p:sp>
      <p:pic>
        <p:nvPicPr>
          <p:cNvPr id="13" name="Image 0" descr="/mnt/data/llm_safe_ppt/jailbreak_taxonomy_final.png"/>
          <p:cNvPicPr>
            <a:picLocks noChangeAspect="1"/>
          </p:cNvPicPr>
          <p:nvPr/>
        </p:nvPicPr>
        <p:blipFill>
          <a:blip r:embed="rId3"/>
          <a:srcRect l="10430" t="6493" r="5066"/>
          <a:stretch>
            <a:fillRect/>
          </a:stretch>
        </p:blipFill>
        <p:spPr>
          <a:xfrm>
            <a:off x="6952136" y="711147"/>
            <a:ext cx="4312657" cy="460360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708995" y="868864"/>
            <a:ext cx="1981832" cy="3825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1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左边是攻击方式</a:t>
            </a:r>
            <a:endParaRPr lang="zh-CN" altLang="en-US" sz="1200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r>
              <a:rPr lang="zh-CN" altLang="en-US" sz="1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右边是对应的防御方式</a:t>
            </a:r>
            <a:endParaRPr lang="en-US" altLang="zh-CN" sz="1200" b="1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endParaRPr lang="zh-CN" altLang="en-US" sz="1200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r>
              <a:rPr lang="zh-CN" altLang="en-US" sz="12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同时，它又分成上下两层：</a:t>
            </a:r>
            <a:endParaRPr lang="en-US" altLang="zh-CN" sz="1200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endParaRPr lang="zh-CN" altLang="en-US" sz="1200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r>
              <a:rPr lang="zh-CN" altLang="en-US" sz="1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上半部分是白盒攻击（</a:t>
            </a:r>
            <a:r>
              <a:rPr lang="en-US" altLang="zh-CN" sz="1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White-box Attack</a:t>
            </a:r>
            <a:r>
              <a:rPr lang="zh-CN" altLang="en-US" sz="1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）</a:t>
            </a:r>
            <a:br>
              <a:rPr lang="zh-CN" altLang="en-US" sz="12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</a:br>
            <a:r>
              <a:rPr lang="zh-CN" altLang="en-US" sz="12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攻击者知道模型内部信息，比如梯度、</a:t>
            </a:r>
            <a:r>
              <a:rPr lang="en-US" altLang="zh-CN" sz="12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logits</a:t>
            </a:r>
            <a:r>
              <a:rPr lang="zh-CN" altLang="en-US" sz="12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、训练过程等，所以攻击更“精准”。</a:t>
            </a:r>
            <a:endParaRPr lang="en-US" altLang="zh-CN" sz="1200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endParaRPr lang="zh-CN" altLang="en-US" sz="1200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r>
              <a:rPr lang="zh-CN" altLang="en-US" sz="1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下半部分是黑盒攻击（</a:t>
            </a:r>
            <a:r>
              <a:rPr lang="en-US" altLang="zh-CN" sz="1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Black-box Attack</a:t>
            </a:r>
            <a:r>
              <a:rPr lang="zh-CN" altLang="en-US" sz="1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）</a:t>
            </a:r>
            <a:br>
              <a:rPr lang="zh-CN" altLang="en-US" sz="12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</a:br>
            <a:r>
              <a:rPr lang="zh-CN" altLang="en-US" sz="12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攻击者不知道模型内部结构，只能通过不断试探、改写提示词来诱导模型输出违规内容，这更符合现实中的大多数攻击场景。</a:t>
            </a:r>
          </a:p>
        </p:txBody>
      </p:sp>
      <p:sp>
        <p:nvSpPr>
          <p:cNvPr id="18" name="Text 15"/>
          <p:cNvSpPr/>
          <p:nvPr/>
        </p:nvSpPr>
        <p:spPr>
          <a:xfrm>
            <a:off x="429153" y="5678424"/>
            <a:ext cx="10727754" cy="50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b="1" dirty="0">
                <a:solidFill>
                  <a:srgbClr val="F26B64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简单来说</a:t>
            </a:r>
            <a:r>
              <a:rPr lang="en-US" b="1" dirty="0">
                <a:solidFill>
                  <a:srgbClr val="F26B64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：</a:t>
            </a:r>
            <a:r>
              <a:rPr lang="zh-CN" altLang="en-US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攻击方法在不断从手工构造走向自动化、智能化，而防御也必须从单纯关键词过滤，升级为提示级防御与模型级防御结合的多层安全体系</a:t>
            </a:r>
            <a:endParaRPr lang="en-US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DB7F2B-5FC1-1678-5D78-9E2CD30EF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76BC47-628E-E627-5E7B-FF0F7F310645}"/>
              </a:ext>
            </a:extLst>
          </p:cNvPr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8263D"/>
          </a:solidFill>
          <a:ln w="12700">
            <a:solidFill>
              <a:srgbClr val="082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DD4DB1A-99FB-3455-A200-85A8862875D3}"/>
              </a:ext>
            </a:extLst>
          </p:cNvPr>
          <p:cNvSpPr/>
          <p:nvPr/>
        </p:nvSpPr>
        <p:spPr>
          <a:xfrm>
            <a:off x="201167" y="73152"/>
            <a:ext cx="6236453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来个实战</a:t>
            </a:r>
            <a:endParaRPr lang="en-US" sz="2200" dirty="0">
              <a:latin typeface="HarmonyOS Sans SC" panose="00000500000000000000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88CDA1B-39A8-7087-809B-DD79859B53F6}"/>
              </a:ext>
            </a:extLst>
          </p:cNvPr>
          <p:cNvSpPr/>
          <p:nvPr/>
        </p:nvSpPr>
        <p:spPr>
          <a:xfrm>
            <a:off x="8778240" y="100584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9F3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AI安全 / 模型对齐绕过</a:t>
            </a:r>
            <a:endParaRPr lang="en-US" sz="850" dirty="0">
              <a:latin typeface="HarmonyOS Sans SC" panose="00000500000000000000" pitchFamily="2" charset="-122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C424697-BB83-D63D-E0BA-9D7315B6B6D1}"/>
              </a:ext>
            </a:extLst>
          </p:cNvPr>
          <p:cNvSpPr/>
          <p:nvPr/>
        </p:nvSpPr>
        <p:spPr>
          <a:xfrm>
            <a:off x="11841480" y="651052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9A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4</a:t>
            </a:r>
            <a:endParaRPr lang="en-US" sz="800" dirty="0">
              <a:latin typeface="HarmonyOS Sans SC" panose="00000500000000000000" pitchFamily="2" charset="-122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A02F894-7FE8-93BF-EC0C-60DDFB8CFDD3}"/>
              </a:ext>
            </a:extLst>
          </p:cNvPr>
          <p:cNvSpPr/>
          <p:nvPr/>
        </p:nvSpPr>
        <p:spPr>
          <a:xfrm>
            <a:off x="201168" y="6355080"/>
            <a:ext cx="11155680" cy="164592"/>
          </a:xfrm>
          <a:prstGeom prst="roundRect">
            <a:avLst>
              <a:gd name="adj" fmla="val 16667"/>
            </a:avLst>
          </a:prstGeom>
          <a:solidFill>
            <a:srgbClr val="08263D"/>
          </a:solidFill>
          <a:ln w="12700">
            <a:solidFill>
              <a:srgbClr val="082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7A88A2A-3956-4983-B0AE-B2664772C18B}"/>
              </a:ext>
            </a:extLst>
          </p:cNvPr>
          <p:cNvSpPr/>
          <p:nvPr/>
        </p:nvSpPr>
        <p:spPr>
          <a:xfrm>
            <a:off x="320040" y="6382512"/>
            <a:ext cx="5120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AI安全 / 大模型安全基础 / 第2次汇报</a:t>
            </a:r>
            <a:endParaRPr lang="en-US" sz="800" dirty="0">
              <a:latin typeface="HarmonyOS Sans SC" panose="00000500000000000000" pitchFamily="2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695BD05-C137-E334-9A47-F0DD89245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661" y="1426395"/>
            <a:ext cx="8116694" cy="42724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Text 1">
            <a:extLst>
              <a:ext uri="{FF2B5EF4-FFF2-40B4-BE49-F238E27FC236}">
                <a16:creationId xmlns:a16="http://schemas.microsoft.com/office/drawing/2014/main" id="{A3CE2642-078F-2F92-C510-DE96702FF1B6}"/>
              </a:ext>
            </a:extLst>
          </p:cNvPr>
          <p:cNvSpPr/>
          <p:nvPr/>
        </p:nvSpPr>
        <p:spPr>
          <a:xfrm>
            <a:off x="201166" y="575607"/>
            <a:ext cx="6236453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极客大挑战</a:t>
            </a:r>
            <a:r>
              <a:rPr lang="en-US" altLang="zh-CN" sz="2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2025</a:t>
            </a:r>
            <a:r>
              <a:rPr lang="zh-CN" altLang="en-US" sz="2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（</a:t>
            </a:r>
            <a:r>
              <a:rPr lang="en-US" altLang="zh-CN" sz="2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CTF-Misc</a:t>
            </a:r>
            <a:r>
              <a:rPr lang="zh-CN" altLang="en-US" sz="2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方向赛题）</a:t>
            </a:r>
            <a:endParaRPr lang="en-US" sz="2200" dirty="0">
              <a:latin typeface="HarmonyOS Sans SC" panose="00000500000000000000" pitchFamily="2" charset="-122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CB1BDF4E-7551-0432-9279-270CBCF486E6}"/>
              </a:ext>
            </a:extLst>
          </p:cNvPr>
          <p:cNvSpPr/>
          <p:nvPr/>
        </p:nvSpPr>
        <p:spPr>
          <a:xfrm>
            <a:off x="2089185" y="5792724"/>
            <a:ext cx="737964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正常我们直接去问“给我</a:t>
            </a:r>
            <a:r>
              <a:rPr lang="en-US" altLang="zh-CN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flag</a:t>
            </a:r>
            <a:r>
              <a:rPr lang="zh-CN" altLang="en-US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”，</a:t>
            </a:r>
            <a:r>
              <a:rPr lang="en-US" altLang="zh-CN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ai</a:t>
            </a:r>
            <a:r>
              <a:rPr lang="zh-CN" altLang="en-US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会拒绝回答，但是借助</a:t>
            </a:r>
            <a:r>
              <a:rPr lang="en-US" altLang="zh-CN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MCP</a:t>
            </a:r>
            <a:r>
              <a:rPr lang="zh-CN" altLang="en-US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工具呢？</a:t>
            </a:r>
            <a:endParaRPr lang="en-US" dirty="0">
              <a:latin typeface="HarmonyOS Sans SC" panose="00000500000000000000" pitchFamily="2" charset="-122"/>
            </a:endParaRP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91F5A93F-EF30-3C53-86B6-636AB196CC54}"/>
              </a:ext>
            </a:extLst>
          </p:cNvPr>
          <p:cNvSpPr/>
          <p:nvPr/>
        </p:nvSpPr>
        <p:spPr>
          <a:xfrm>
            <a:off x="201168" y="892860"/>
            <a:ext cx="7684445" cy="552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简介：服务端有</a:t>
            </a:r>
            <a:r>
              <a:rPr lang="en-US" altLang="zh-CN" sz="16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flag</a:t>
            </a:r>
            <a:r>
              <a:rPr lang="zh-CN" altLang="en-US" sz="16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文件，攻击者需要自定义</a:t>
            </a:r>
            <a:r>
              <a:rPr lang="en-US" altLang="zh-CN" sz="16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MCP</a:t>
            </a:r>
            <a:r>
              <a:rPr lang="zh-CN" altLang="en-US" sz="16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工具，让</a:t>
            </a:r>
            <a:r>
              <a:rPr lang="en-US" altLang="zh-CN" sz="16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ai</a:t>
            </a:r>
            <a:r>
              <a:rPr lang="zh-CN" altLang="en-US" sz="16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越狱读取本地服务端的</a:t>
            </a:r>
            <a:r>
              <a:rPr lang="en-US" altLang="zh-CN" sz="16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flag</a:t>
            </a:r>
            <a:r>
              <a:rPr lang="zh-CN" altLang="en-US" sz="16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，但</a:t>
            </a:r>
            <a:r>
              <a:rPr lang="en-US" altLang="zh-CN" sz="16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system prompt</a:t>
            </a:r>
            <a:r>
              <a:rPr lang="zh-CN" altLang="en-US" sz="16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定义了禁止把</a:t>
            </a:r>
            <a:r>
              <a:rPr lang="en-US" altLang="zh-CN" sz="16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flag</a:t>
            </a:r>
            <a:r>
              <a:rPr lang="zh-CN" altLang="en-US" sz="16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发给“用户”（这里是攻击者）</a:t>
            </a:r>
            <a:endParaRPr lang="en-US" sz="1600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849012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8947F5-CF14-E01F-7F71-502D518AA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520D261-5150-6E3E-5EB2-639D76E5F80F}"/>
              </a:ext>
            </a:extLst>
          </p:cNvPr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8263D"/>
          </a:solidFill>
          <a:ln w="12700">
            <a:solidFill>
              <a:srgbClr val="082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013AEF8-45E6-127F-744E-86B37DF46C5E}"/>
              </a:ext>
            </a:extLst>
          </p:cNvPr>
          <p:cNvSpPr/>
          <p:nvPr/>
        </p:nvSpPr>
        <p:spPr>
          <a:xfrm>
            <a:off x="201167" y="73152"/>
            <a:ext cx="6236453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来个实战</a:t>
            </a:r>
            <a:endParaRPr lang="en-US" sz="2200" dirty="0">
              <a:latin typeface="HarmonyOS Sans SC" panose="00000500000000000000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73AE5EA-7D5C-48A6-0D0A-52AB9508BE16}"/>
              </a:ext>
            </a:extLst>
          </p:cNvPr>
          <p:cNvSpPr/>
          <p:nvPr/>
        </p:nvSpPr>
        <p:spPr>
          <a:xfrm>
            <a:off x="8778240" y="100584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9F3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AI安全 / 模型对齐绕过</a:t>
            </a:r>
            <a:endParaRPr lang="en-US" sz="850" dirty="0">
              <a:latin typeface="HarmonyOS Sans SC" panose="00000500000000000000" pitchFamily="2" charset="-122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F6ADA7C-77CD-1EE7-341F-49B1B590AEDE}"/>
              </a:ext>
            </a:extLst>
          </p:cNvPr>
          <p:cNvSpPr/>
          <p:nvPr/>
        </p:nvSpPr>
        <p:spPr>
          <a:xfrm>
            <a:off x="11841480" y="651052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9A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4</a:t>
            </a:r>
            <a:endParaRPr lang="en-US" sz="800" dirty="0">
              <a:latin typeface="HarmonyOS Sans SC" panose="00000500000000000000" pitchFamily="2" charset="-122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811FDA5-5A36-ECEC-36F0-B9318A4D0931}"/>
              </a:ext>
            </a:extLst>
          </p:cNvPr>
          <p:cNvSpPr/>
          <p:nvPr/>
        </p:nvSpPr>
        <p:spPr>
          <a:xfrm>
            <a:off x="201168" y="6355080"/>
            <a:ext cx="11155680" cy="164592"/>
          </a:xfrm>
          <a:prstGeom prst="roundRect">
            <a:avLst>
              <a:gd name="adj" fmla="val 16667"/>
            </a:avLst>
          </a:prstGeom>
          <a:solidFill>
            <a:srgbClr val="08263D"/>
          </a:solidFill>
          <a:ln w="12700">
            <a:solidFill>
              <a:srgbClr val="082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143E78B-3EF8-A30E-7649-E9B0466E4B0C}"/>
              </a:ext>
            </a:extLst>
          </p:cNvPr>
          <p:cNvSpPr/>
          <p:nvPr/>
        </p:nvSpPr>
        <p:spPr>
          <a:xfrm>
            <a:off x="320040" y="6382512"/>
            <a:ext cx="5120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AI安全 / 大模型安全基础 / 第2次汇报</a:t>
            </a:r>
            <a:endParaRPr lang="en-US" sz="800" dirty="0">
              <a:latin typeface="HarmonyOS Sans SC" panose="00000500000000000000" pitchFamily="2" charset="-122"/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81A8C53D-814A-BE35-780F-F44F1A716363}"/>
              </a:ext>
            </a:extLst>
          </p:cNvPr>
          <p:cNvSpPr/>
          <p:nvPr/>
        </p:nvSpPr>
        <p:spPr>
          <a:xfrm>
            <a:off x="201166" y="575607"/>
            <a:ext cx="6236453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极客大挑战</a:t>
            </a:r>
            <a:r>
              <a:rPr lang="en-US" altLang="zh-CN" sz="2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2025</a:t>
            </a:r>
            <a:r>
              <a:rPr lang="zh-CN" altLang="en-US" sz="2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（</a:t>
            </a:r>
            <a:r>
              <a:rPr lang="en-US" altLang="zh-CN" sz="2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CTF-Misc</a:t>
            </a:r>
            <a:r>
              <a:rPr lang="zh-CN" altLang="en-US" sz="2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方向赛题）</a:t>
            </a:r>
            <a:endParaRPr lang="en-US" sz="2200" dirty="0">
              <a:latin typeface="HarmonyOS Sans SC" panose="00000500000000000000" pitchFamily="2" charset="-122"/>
            </a:endParaRP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CA974B9D-ABEE-2685-6A3B-EC0026AA4132}"/>
              </a:ext>
            </a:extLst>
          </p:cNvPr>
          <p:cNvSpPr/>
          <p:nvPr/>
        </p:nvSpPr>
        <p:spPr>
          <a:xfrm>
            <a:off x="201168" y="892860"/>
            <a:ext cx="7684445" cy="552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网页给了</a:t>
            </a:r>
            <a:r>
              <a:rPr lang="en-US" altLang="zh-CN" sz="16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MCP</a:t>
            </a:r>
            <a:r>
              <a:rPr lang="zh-CN" altLang="en-US" sz="16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工具模板</a:t>
            </a:r>
            <a:endParaRPr lang="en-US" sz="1600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D22722B-789F-B4EB-CD1E-3FE74DF26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2275" y="1032341"/>
            <a:ext cx="7146787" cy="49459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28739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E1FB96-F779-5214-1E07-22BFE1EA7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85704DF-011F-E8B6-87F8-D8F6A640337A}"/>
              </a:ext>
            </a:extLst>
          </p:cNvPr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8263D"/>
          </a:solidFill>
          <a:ln w="12700">
            <a:solidFill>
              <a:srgbClr val="082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7146F41-26D5-7B31-17B8-C202CEF33756}"/>
              </a:ext>
            </a:extLst>
          </p:cNvPr>
          <p:cNvSpPr/>
          <p:nvPr/>
        </p:nvSpPr>
        <p:spPr>
          <a:xfrm>
            <a:off x="201167" y="73152"/>
            <a:ext cx="6236453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来个实战</a:t>
            </a:r>
            <a:endParaRPr lang="en-US" sz="2200" dirty="0">
              <a:latin typeface="HarmonyOS Sans SC" panose="00000500000000000000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A71355E-DA41-425A-1D15-6FFD148B5E68}"/>
              </a:ext>
            </a:extLst>
          </p:cNvPr>
          <p:cNvSpPr/>
          <p:nvPr/>
        </p:nvSpPr>
        <p:spPr>
          <a:xfrm>
            <a:off x="8778240" y="100584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9F3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AI安全 / 模型对齐绕过</a:t>
            </a:r>
            <a:endParaRPr lang="en-US" sz="850" dirty="0">
              <a:latin typeface="HarmonyOS Sans SC" panose="00000500000000000000" pitchFamily="2" charset="-122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3629A54-9824-EF66-41D7-AF08B5235803}"/>
              </a:ext>
            </a:extLst>
          </p:cNvPr>
          <p:cNvSpPr/>
          <p:nvPr/>
        </p:nvSpPr>
        <p:spPr>
          <a:xfrm>
            <a:off x="11841480" y="651052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9A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4</a:t>
            </a:r>
            <a:endParaRPr lang="en-US" sz="800" dirty="0">
              <a:latin typeface="HarmonyOS Sans SC" panose="00000500000000000000" pitchFamily="2" charset="-122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761A6E6-9579-DDBB-B1F6-04FAFF5D4E51}"/>
              </a:ext>
            </a:extLst>
          </p:cNvPr>
          <p:cNvSpPr/>
          <p:nvPr/>
        </p:nvSpPr>
        <p:spPr>
          <a:xfrm>
            <a:off x="201168" y="6355080"/>
            <a:ext cx="11155680" cy="164592"/>
          </a:xfrm>
          <a:prstGeom prst="roundRect">
            <a:avLst>
              <a:gd name="adj" fmla="val 16667"/>
            </a:avLst>
          </a:prstGeom>
          <a:solidFill>
            <a:srgbClr val="08263D"/>
          </a:solidFill>
          <a:ln w="12700">
            <a:solidFill>
              <a:srgbClr val="082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B4F9A9A-6F3A-5A75-759C-DBE98C3D513F}"/>
              </a:ext>
            </a:extLst>
          </p:cNvPr>
          <p:cNvSpPr/>
          <p:nvPr/>
        </p:nvSpPr>
        <p:spPr>
          <a:xfrm>
            <a:off x="320040" y="6382512"/>
            <a:ext cx="5120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AI安全 / 大模型安全基础 / 第2次汇报</a:t>
            </a:r>
            <a:endParaRPr lang="en-US" sz="800" dirty="0">
              <a:latin typeface="HarmonyOS Sans SC" panose="00000500000000000000" pitchFamily="2" charset="-122"/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67054BB9-019F-586A-9328-238CE723CBCA}"/>
              </a:ext>
            </a:extLst>
          </p:cNvPr>
          <p:cNvSpPr/>
          <p:nvPr/>
        </p:nvSpPr>
        <p:spPr>
          <a:xfrm>
            <a:off x="201166" y="575607"/>
            <a:ext cx="6236453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极客大挑战</a:t>
            </a:r>
            <a:r>
              <a:rPr lang="en-US" altLang="zh-CN" sz="2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2025</a:t>
            </a:r>
            <a:r>
              <a:rPr lang="zh-CN" altLang="en-US" sz="2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（</a:t>
            </a:r>
            <a:r>
              <a:rPr lang="en-US" altLang="zh-CN" sz="2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CTF-Misc</a:t>
            </a:r>
            <a:r>
              <a:rPr lang="zh-CN" altLang="en-US" sz="2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方向赛题）</a:t>
            </a:r>
            <a:endParaRPr lang="en-US" sz="2200" dirty="0">
              <a:latin typeface="HarmonyOS Sans SC" panose="00000500000000000000" pitchFamily="2" charset="-122"/>
            </a:endParaRP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E045DC4B-E1EB-FC4E-D01B-3374293FD55E}"/>
              </a:ext>
            </a:extLst>
          </p:cNvPr>
          <p:cNvSpPr/>
          <p:nvPr/>
        </p:nvSpPr>
        <p:spPr>
          <a:xfrm>
            <a:off x="201168" y="892860"/>
            <a:ext cx="7684445" cy="552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可以构造如下</a:t>
            </a:r>
            <a:r>
              <a:rPr lang="en-US" altLang="zh-CN" sz="16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MCP</a:t>
            </a:r>
            <a:r>
              <a:rPr lang="zh-CN" altLang="en-US" sz="16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工具</a:t>
            </a:r>
            <a:endParaRPr lang="en-US" sz="1600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0B8B55A-90A9-4D9C-B0CE-39955FE14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703" y="1636970"/>
            <a:ext cx="9248503" cy="38059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95530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08D63F-4B12-F93D-132D-7C2D061A2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5717D00-0069-51ED-2C23-CDDD00A8954B}"/>
              </a:ext>
            </a:extLst>
          </p:cNvPr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8263D"/>
          </a:solidFill>
          <a:ln w="12700">
            <a:solidFill>
              <a:srgbClr val="082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BEA238C-DA65-BD91-0132-1925DF24AD8A}"/>
              </a:ext>
            </a:extLst>
          </p:cNvPr>
          <p:cNvSpPr/>
          <p:nvPr/>
        </p:nvSpPr>
        <p:spPr>
          <a:xfrm>
            <a:off x="201167" y="73152"/>
            <a:ext cx="6236453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来个实战</a:t>
            </a:r>
            <a:endParaRPr lang="en-US" sz="2200" dirty="0">
              <a:latin typeface="HarmonyOS Sans SC" panose="00000500000000000000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90861C0-EC17-69C1-3361-6692B63484D1}"/>
              </a:ext>
            </a:extLst>
          </p:cNvPr>
          <p:cNvSpPr/>
          <p:nvPr/>
        </p:nvSpPr>
        <p:spPr>
          <a:xfrm>
            <a:off x="8778240" y="100584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9F3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AI安全 / 模型对齐绕过</a:t>
            </a:r>
            <a:endParaRPr lang="en-US" sz="850" dirty="0">
              <a:latin typeface="HarmonyOS Sans SC" panose="00000500000000000000" pitchFamily="2" charset="-122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A168C47-02B1-E90F-1588-245CB52E19CB}"/>
              </a:ext>
            </a:extLst>
          </p:cNvPr>
          <p:cNvSpPr/>
          <p:nvPr/>
        </p:nvSpPr>
        <p:spPr>
          <a:xfrm>
            <a:off x="11841480" y="651052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9A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4</a:t>
            </a:r>
            <a:endParaRPr lang="en-US" sz="800" dirty="0">
              <a:latin typeface="HarmonyOS Sans SC" panose="00000500000000000000" pitchFamily="2" charset="-122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EAAEB35-553C-E6B7-5E52-4077EF11991D}"/>
              </a:ext>
            </a:extLst>
          </p:cNvPr>
          <p:cNvSpPr/>
          <p:nvPr/>
        </p:nvSpPr>
        <p:spPr>
          <a:xfrm>
            <a:off x="201168" y="6355080"/>
            <a:ext cx="11155680" cy="164592"/>
          </a:xfrm>
          <a:prstGeom prst="roundRect">
            <a:avLst>
              <a:gd name="adj" fmla="val 16667"/>
            </a:avLst>
          </a:prstGeom>
          <a:solidFill>
            <a:srgbClr val="08263D"/>
          </a:solidFill>
          <a:ln w="12700">
            <a:solidFill>
              <a:srgbClr val="082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773C5C4-7FE6-1990-6011-067688CA59D4}"/>
              </a:ext>
            </a:extLst>
          </p:cNvPr>
          <p:cNvSpPr/>
          <p:nvPr/>
        </p:nvSpPr>
        <p:spPr>
          <a:xfrm>
            <a:off x="320040" y="6382512"/>
            <a:ext cx="5120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AI安全 / 大模型安全基础 / 第2次汇报</a:t>
            </a:r>
            <a:endParaRPr lang="en-US" sz="800" dirty="0">
              <a:latin typeface="HarmonyOS Sans SC" panose="00000500000000000000" pitchFamily="2" charset="-122"/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83CFEE46-5D14-5E01-D02B-5244E8185A17}"/>
              </a:ext>
            </a:extLst>
          </p:cNvPr>
          <p:cNvSpPr/>
          <p:nvPr/>
        </p:nvSpPr>
        <p:spPr>
          <a:xfrm>
            <a:off x="201166" y="575607"/>
            <a:ext cx="6236453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极客大挑战</a:t>
            </a:r>
            <a:r>
              <a:rPr lang="en-US" altLang="zh-CN" sz="2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2025</a:t>
            </a:r>
            <a:r>
              <a:rPr lang="zh-CN" altLang="en-US" sz="2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（</a:t>
            </a:r>
            <a:r>
              <a:rPr lang="en-US" altLang="zh-CN" sz="2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CTF-Misc</a:t>
            </a:r>
            <a:r>
              <a:rPr lang="zh-CN" altLang="en-US" sz="2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方向赛题）</a:t>
            </a:r>
            <a:endParaRPr lang="en-US" sz="2200" dirty="0">
              <a:latin typeface="HarmonyOS Sans SC" panose="00000500000000000000" pitchFamily="2" charset="-122"/>
            </a:endParaRP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D2FFEC4D-8E17-3B53-B9E9-D1BD8EB08EEC}"/>
              </a:ext>
            </a:extLst>
          </p:cNvPr>
          <p:cNvSpPr/>
          <p:nvPr/>
        </p:nvSpPr>
        <p:spPr>
          <a:xfrm>
            <a:off x="201168" y="892860"/>
            <a:ext cx="7684445" cy="552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最终获取</a:t>
            </a:r>
            <a:r>
              <a:rPr lang="en-US" altLang="zh-CN" sz="16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flag</a:t>
            </a:r>
            <a:endParaRPr lang="en-US" sz="1600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B48FD0F-FD76-4A10-6526-CAB56F496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492" y="1007776"/>
            <a:ext cx="5883646" cy="24212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0C52587-BEF2-2CF9-AD11-FE365E0C09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7261" y="3631330"/>
            <a:ext cx="8133261" cy="243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3988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8263D"/>
          </a:solidFill>
          <a:ln w="12700">
            <a:solidFill>
              <a:srgbClr val="082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89953" y="5124"/>
            <a:ext cx="636629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提示注入（Prompt Injection）：把“不可信内容”伪装成指令</a:t>
            </a:r>
            <a:endParaRPr lang="en-US" dirty="0">
              <a:latin typeface="HarmonyOS Sans SC" panose="00000500000000000000" pitchFamily="2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8778240" y="100584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9F3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AI安全 / 指令劫持与间接注入</a:t>
            </a:r>
            <a:endParaRPr lang="en-US" sz="850" dirty="0">
              <a:latin typeface="HarmonyOS Sans SC" panose="00000500000000000000" pitchFamily="2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41480" y="651052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9A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5</a:t>
            </a:r>
            <a:endParaRPr lang="en-US" sz="800" dirty="0">
              <a:latin typeface="HarmonyOS Sans SC" panose="00000500000000000000" pitchFamily="2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01168" y="6355080"/>
            <a:ext cx="11155680" cy="164592"/>
          </a:xfrm>
          <a:prstGeom prst="roundRect">
            <a:avLst>
              <a:gd name="adj" fmla="val 16667"/>
            </a:avLst>
          </a:prstGeom>
          <a:solidFill>
            <a:srgbClr val="08263D"/>
          </a:solidFill>
          <a:ln w="12700">
            <a:solidFill>
              <a:srgbClr val="082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6382512"/>
            <a:ext cx="5120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AI安全 / 大模型安全基础 / 第2次汇报</a:t>
            </a:r>
            <a:endParaRPr lang="en-US" sz="800" dirty="0">
              <a:latin typeface="HarmonyOS Sans SC" panose="00000500000000000000" pitchFamily="2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6756" y="985143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Prompt Injection </a:t>
            </a:r>
            <a:r>
              <a:rPr lang="zh-CN" altLang="en-US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危险的地方</a:t>
            </a:r>
            <a:r>
              <a:rPr lang="en-US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在于：模型很难天然分清“这是数据”还是“这是更高优先级的新指令</a:t>
            </a:r>
            <a:r>
              <a:rPr lang="en-US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”。</a:t>
            </a:r>
            <a:endParaRPr lang="en-US" dirty="0">
              <a:latin typeface="HarmonyOS Sans SC" panose="00000500000000000000" pitchFamily="2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532888" y="2130552"/>
            <a:ext cx="137160" cy="0"/>
          </a:xfrm>
          <a:prstGeom prst="line">
            <a:avLst/>
          </a:prstGeom>
          <a:noFill/>
          <a:ln w="19050">
            <a:solidFill>
              <a:srgbClr val="9BB7C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17720" y="2130552"/>
            <a:ext cx="137160" cy="0"/>
          </a:xfrm>
          <a:prstGeom prst="line">
            <a:avLst/>
          </a:prstGeom>
          <a:noFill/>
          <a:ln w="19050">
            <a:solidFill>
              <a:srgbClr val="9BB7C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702552" y="2130552"/>
            <a:ext cx="137160" cy="0"/>
          </a:xfrm>
          <a:prstGeom prst="line">
            <a:avLst/>
          </a:prstGeom>
          <a:noFill/>
          <a:ln w="19050">
            <a:solidFill>
              <a:srgbClr val="9BB7C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787384" y="2130552"/>
            <a:ext cx="137160" cy="0"/>
          </a:xfrm>
          <a:prstGeom prst="line">
            <a:avLst/>
          </a:prstGeom>
          <a:noFill/>
          <a:ln w="19050">
            <a:solidFill>
              <a:srgbClr val="9BB7C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58368" y="1691640"/>
            <a:ext cx="1874520" cy="896112"/>
          </a:xfrm>
          <a:prstGeom prst="roundRect">
            <a:avLst>
              <a:gd name="adj" fmla="val 8163"/>
            </a:avLst>
          </a:prstGeom>
          <a:solidFill>
            <a:srgbClr val="DFF6FF"/>
          </a:solidFill>
          <a:ln w="12700">
            <a:solidFill>
              <a:srgbClr val="C7D5E3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04672" y="1801368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用户任务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04672" y="2075688"/>
            <a:ext cx="1581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读取网页 / 邮件 / 文档</a:t>
            </a:r>
            <a:endParaRPr lang="en-US" sz="1080" dirty="0">
              <a:latin typeface="HarmonyOS Sans SC" panose="00000500000000000000" pitchFamily="2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65284" y="1691640"/>
            <a:ext cx="1874520" cy="896112"/>
          </a:xfrm>
          <a:prstGeom prst="roundRect">
            <a:avLst>
              <a:gd name="adj" fmla="val 8163"/>
            </a:avLst>
          </a:prstGeom>
          <a:solidFill>
            <a:srgbClr val="FFF2E3"/>
          </a:solidFill>
          <a:ln w="12700">
            <a:solidFill>
              <a:srgbClr val="C7D5E3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889503" y="1801368"/>
            <a:ext cx="15013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模型接触外部内容</a:t>
            </a:r>
            <a:endParaRPr lang="en-US" sz="1400" dirty="0">
              <a:latin typeface="HarmonyOS Sans SC" panose="00000500000000000000" pitchFamily="2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889504" y="2075688"/>
            <a:ext cx="1581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上下文里混入第三方文本</a:t>
            </a:r>
            <a:endParaRPr lang="en-US" sz="1080" dirty="0">
              <a:latin typeface="HarmonyOS Sans SC" panose="00000500000000000000" pitchFamily="2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28032" y="1691640"/>
            <a:ext cx="1874520" cy="896112"/>
          </a:xfrm>
          <a:prstGeom prst="roundRect">
            <a:avLst>
              <a:gd name="adj" fmla="val 8163"/>
            </a:avLst>
          </a:prstGeom>
          <a:solidFill>
            <a:srgbClr val="FFF0EE"/>
          </a:solidFill>
          <a:ln w="12700">
            <a:solidFill>
              <a:srgbClr val="C7D5E3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74336" y="1801368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隐藏指令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74336" y="2075688"/>
            <a:ext cx="1581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“忽略原任务</a:t>
            </a:r>
            <a:endParaRPr lang="en-US" sz="108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0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转而执行……”</a:t>
            </a:r>
            <a:endParaRPr lang="en-US" sz="1080" dirty="0">
              <a:latin typeface="HarmonyOS Sans SC" panose="00000500000000000000" pitchFamily="2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912864" y="1691640"/>
            <a:ext cx="1874520" cy="896112"/>
          </a:xfrm>
          <a:prstGeom prst="roundRect">
            <a:avLst>
              <a:gd name="adj" fmla="val 8163"/>
            </a:avLst>
          </a:prstGeom>
          <a:solidFill>
            <a:srgbClr val="F0EEFF"/>
          </a:solidFill>
          <a:ln w="12700">
            <a:solidFill>
              <a:srgbClr val="C7D5E3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059168" y="1801368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行为被劫持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059168" y="2075688"/>
            <a:ext cx="1581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总结变成执行</a:t>
            </a:r>
            <a:endParaRPr lang="en-US" sz="108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0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检索变成泄露</a:t>
            </a:r>
            <a:endParaRPr lang="en-US" sz="1080" dirty="0">
              <a:latin typeface="HarmonyOS Sans SC" panose="00000500000000000000" pitchFamily="2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997696" y="1691640"/>
            <a:ext cx="1874520" cy="896112"/>
          </a:xfrm>
          <a:prstGeom prst="roundRect">
            <a:avLst>
              <a:gd name="adj" fmla="val 8163"/>
            </a:avLst>
          </a:prstGeom>
          <a:solidFill>
            <a:srgbClr val="EAFBF3"/>
          </a:solidFill>
          <a:ln w="12700">
            <a:solidFill>
              <a:srgbClr val="C7D5E3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44000" y="1801368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风险后果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144000" y="2075688"/>
            <a:ext cx="1581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数据外传 / 工具误用</a:t>
            </a:r>
            <a:endParaRPr lang="en-US" sz="108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0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权限越界</a:t>
            </a:r>
            <a:endParaRPr lang="en-US" sz="1080" dirty="0">
              <a:latin typeface="HarmonyOS Sans SC" panose="00000500000000000000" pitchFamily="2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13232" y="3035808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DFF6FF"/>
          </a:solidFill>
          <a:ln w="12700">
            <a:solidFill>
              <a:srgbClr val="9FD6EE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59536" y="3145536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Direct Injection（直接注入）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59536" y="3419856"/>
            <a:ext cx="295351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攻击入口：用户自己输入的 prompt。</a:t>
            </a:r>
            <a:endParaRPr lang="en-US" sz="118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典型动作：直接要求“忽略规则”“切换人格”“输出编码答案”。</a:t>
            </a:r>
            <a:endParaRPr lang="en-US" sz="118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Microsoft 将这类攻击归入 user prompt attacks；常见子类包括 role-play、conversation mockup、encoding attack。 [1][2]</a:t>
            </a:r>
            <a:endParaRPr lang="en-US" sz="1180" dirty="0">
              <a:latin typeface="HarmonyOS Sans SC" panose="00000500000000000000" pitchFamily="2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133088" y="3035808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FF2E3"/>
          </a:solidFill>
          <a:ln w="12700">
            <a:solidFill>
              <a:srgbClr val="F0C182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279392" y="3145536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Indirect Injection（间接注入）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279392" y="3419856"/>
            <a:ext cx="295351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攻击入口：网页、邮件、PDF、共享文档、RAG 语料。</a:t>
            </a:r>
            <a:endParaRPr lang="en-US" sz="118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模型虽然是在“读资料”，却可能把第三方内容里的隐藏指令当真。</a:t>
            </a:r>
            <a:endParaRPr lang="en-US" sz="118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Anthropic 特别指出：浏览器代理访问的每个网页都可能成为攻击向量。 [1][3]</a:t>
            </a:r>
            <a:endParaRPr lang="en-US" sz="1180" dirty="0">
              <a:latin typeface="HarmonyOS Sans SC" panose="00000500000000000000" pitchFamily="2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626096" y="3035808"/>
            <a:ext cx="3639312" cy="1965960"/>
          </a:xfrm>
          <a:prstGeom prst="roundRect">
            <a:avLst>
              <a:gd name="adj" fmla="val 3721"/>
            </a:avLst>
          </a:prstGeom>
          <a:solidFill>
            <a:srgbClr val="FAFB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690104" y="3174386"/>
            <a:ext cx="3392424" cy="210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E3859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论文图：Liu et al., USENIX Security 2024, Fig. 1</a:t>
            </a:r>
            <a:endParaRPr lang="en-US" sz="1130" dirty="0">
              <a:latin typeface="HarmonyOS Sans SC" panose="00000500000000000000" pitchFamily="2" charset="-122"/>
            </a:endParaRPr>
          </a:p>
        </p:txBody>
      </p:sp>
      <p:pic>
        <p:nvPicPr>
          <p:cNvPr id="36" name="Image 0" descr="/mnt/data/llm_safe_ppt/prompt_injection_framework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881" y="3419856"/>
            <a:ext cx="1707454" cy="1170432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690104" y="4679181"/>
            <a:ext cx="3529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 err="1">
                <a:solidFill>
                  <a:srgbClr val="5E6E82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攻击者不是直接</a:t>
            </a:r>
            <a:r>
              <a:rPr lang="zh-CN" altLang="en-US" sz="1020" dirty="0">
                <a:solidFill>
                  <a:srgbClr val="5E6E82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攻击服务器</a:t>
            </a:r>
            <a:r>
              <a:rPr lang="en-US" sz="1020" dirty="0">
                <a:solidFill>
                  <a:srgbClr val="5E6E82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，</a:t>
            </a:r>
            <a:r>
              <a:rPr lang="en-US" sz="1020" dirty="0" err="1">
                <a:solidFill>
                  <a:srgbClr val="5E6E82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而是通过“外部资源”把指令混进数据</a:t>
            </a:r>
            <a:endParaRPr lang="en-US" sz="1020" dirty="0">
              <a:latin typeface="HarmonyOS Sans SC" panose="00000500000000000000" pitchFamily="2" charset="-122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932688" y="5376672"/>
            <a:ext cx="10287000" cy="530352"/>
          </a:xfrm>
          <a:prstGeom prst="roundRect">
            <a:avLst>
              <a:gd name="adj" fmla="val 10345"/>
            </a:avLst>
          </a:prstGeom>
          <a:solidFill>
            <a:srgbClr val="0E3859"/>
          </a:solidFill>
          <a:ln w="12700">
            <a:solidFill>
              <a:srgbClr val="0E385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1170432" y="555040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10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结论：当 LLM 接入浏览器、邮箱、文件和工具后，提示注入就是连接“模型风险”和“智能体风险”的那座桥。</a:t>
            </a:r>
            <a:endParaRPr lang="en-US" sz="1310" dirty="0">
              <a:latin typeface="HarmonyOS Sans SC" panose="00000500000000000000" pitchFamily="2" charset="-122"/>
            </a:endParaRP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90E637B4-F833-EC54-D91A-A11A7A191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975048" y="2013472"/>
            <a:ext cx="9399328" cy="28310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097F72-4FCD-B828-8700-969AA92EB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CBFF27-6EC7-A92B-5954-ADD1CF43A1C2}"/>
              </a:ext>
            </a:extLst>
          </p:cNvPr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8263D"/>
          </a:solidFill>
          <a:ln w="12700">
            <a:solidFill>
              <a:srgbClr val="082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BEEF435-3433-3337-B7DA-726B0741F647}"/>
              </a:ext>
            </a:extLst>
          </p:cNvPr>
          <p:cNvSpPr/>
          <p:nvPr/>
        </p:nvSpPr>
        <p:spPr>
          <a:xfrm>
            <a:off x="189953" y="5124"/>
            <a:ext cx="636629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提示注入（Prompt Injection）：把“不可信内容”伪装成指令</a:t>
            </a:r>
            <a:endParaRPr lang="en-US" dirty="0">
              <a:latin typeface="HarmonyOS Sans SC" panose="00000500000000000000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F519865-751D-94E3-10A6-D32507516F71}"/>
              </a:ext>
            </a:extLst>
          </p:cNvPr>
          <p:cNvSpPr/>
          <p:nvPr/>
        </p:nvSpPr>
        <p:spPr>
          <a:xfrm>
            <a:off x="8778240" y="100584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9F3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AI安全 / 指令劫持与间接注入</a:t>
            </a:r>
            <a:endParaRPr lang="en-US" sz="850" dirty="0">
              <a:latin typeface="HarmonyOS Sans SC" panose="00000500000000000000" pitchFamily="2" charset="-122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F54B9E0-8B07-FB3C-2B86-DE265912F5CA}"/>
              </a:ext>
            </a:extLst>
          </p:cNvPr>
          <p:cNvSpPr/>
          <p:nvPr/>
        </p:nvSpPr>
        <p:spPr>
          <a:xfrm>
            <a:off x="11841480" y="651052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9A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5</a:t>
            </a:r>
            <a:endParaRPr lang="en-US" sz="800" dirty="0">
              <a:latin typeface="HarmonyOS Sans SC" panose="00000500000000000000" pitchFamily="2" charset="-122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26574DA-5592-95EB-D638-4364DF0D7687}"/>
              </a:ext>
            </a:extLst>
          </p:cNvPr>
          <p:cNvSpPr/>
          <p:nvPr/>
        </p:nvSpPr>
        <p:spPr>
          <a:xfrm>
            <a:off x="201168" y="6355080"/>
            <a:ext cx="11155680" cy="164592"/>
          </a:xfrm>
          <a:prstGeom prst="roundRect">
            <a:avLst>
              <a:gd name="adj" fmla="val 16667"/>
            </a:avLst>
          </a:prstGeom>
          <a:solidFill>
            <a:srgbClr val="08263D"/>
          </a:solidFill>
          <a:ln w="12700">
            <a:solidFill>
              <a:srgbClr val="082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C7280C4-4F1E-677A-7C6A-BE94DD56C1BA}"/>
              </a:ext>
            </a:extLst>
          </p:cNvPr>
          <p:cNvSpPr/>
          <p:nvPr/>
        </p:nvSpPr>
        <p:spPr>
          <a:xfrm>
            <a:off x="320040" y="6382512"/>
            <a:ext cx="5120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AI安全 / 大模型安全基础 / 第2次汇报</a:t>
            </a:r>
            <a:endParaRPr lang="en-US" sz="800" dirty="0">
              <a:latin typeface="HarmonyOS Sans SC" panose="00000500000000000000" pitchFamily="2" charset="-122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7848B14-DE66-27A4-F74F-8C9B95D062B5}"/>
              </a:ext>
            </a:extLst>
          </p:cNvPr>
          <p:cNvSpPr/>
          <p:nvPr/>
        </p:nvSpPr>
        <p:spPr>
          <a:xfrm>
            <a:off x="506756" y="985143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Prompt Injection </a:t>
            </a:r>
            <a:r>
              <a:rPr lang="zh-CN" altLang="en-US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危险的地方</a:t>
            </a:r>
            <a:r>
              <a:rPr lang="en-US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在于：模型很难天然分清“这是数据”还是“这是更高优先级的新指令</a:t>
            </a:r>
            <a:r>
              <a:rPr lang="en-US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”。</a:t>
            </a:r>
            <a:endParaRPr lang="en-US" dirty="0">
              <a:latin typeface="HarmonyOS Sans SC" panose="00000500000000000000" pitchFamily="2" charset="-122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492F82F-AAF9-D179-D94A-EFADF0BC744D}"/>
              </a:ext>
            </a:extLst>
          </p:cNvPr>
          <p:cNvSpPr/>
          <p:nvPr/>
        </p:nvSpPr>
        <p:spPr>
          <a:xfrm>
            <a:off x="2532888" y="2130552"/>
            <a:ext cx="137160" cy="0"/>
          </a:xfrm>
          <a:prstGeom prst="line">
            <a:avLst/>
          </a:prstGeom>
          <a:noFill/>
          <a:ln w="19050">
            <a:solidFill>
              <a:srgbClr val="9BB7C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092D100-3BFE-755A-BF61-89B1BE22ED77}"/>
              </a:ext>
            </a:extLst>
          </p:cNvPr>
          <p:cNvSpPr/>
          <p:nvPr/>
        </p:nvSpPr>
        <p:spPr>
          <a:xfrm>
            <a:off x="4617720" y="2130552"/>
            <a:ext cx="137160" cy="0"/>
          </a:xfrm>
          <a:prstGeom prst="line">
            <a:avLst/>
          </a:prstGeom>
          <a:noFill/>
          <a:ln w="19050">
            <a:solidFill>
              <a:srgbClr val="9BB7C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F851197-B536-EC77-99FA-B5E53499716E}"/>
              </a:ext>
            </a:extLst>
          </p:cNvPr>
          <p:cNvSpPr/>
          <p:nvPr/>
        </p:nvSpPr>
        <p:spPr>
          <a:xfrm>
            <a:off x="6702552" y="2130552"/>
            <a:ext cx="137160" cy="0"/>
          </a:xfrm>
          <a:prstGeom prst="line">
            <a:avLst/>
          </a:prstGeom>
          <a:noFill/>
          <a:ln w="19050">
            <a:solidFill>
              <a:srgbClr val="9BB7C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D413EA4-82E6-94F1-DE9D-975E58914E25}"/>
              </a:ext>
            </a:extLst>
          </p:cNvPr>
          <p:cNvSpPr/>
          <p:nvPr/>
        </p:nvSpPr>
        <p:spPr>
          <a:xfrm>
            <a:off x="8787384" y="2130552"/>
            <a:ext cx="137160" cy="0"/>
          </a:xfrm>
          <a:prstGeom prst="line">
            <a:avLst/>
          </a:prstGeom>
          <a:noFill/>
          <a:ln w="19050">
            <a:solidFill>
              <a:srgbClr val="9BB7C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B9469F5-0799-25C1-5282-F54E8B0CD7FB}"/>
              </a:ext>
            </a:extLst>
          </p:cNvPr>
          <p:cNvSpPr/>
          <p:nvPr/>
        </p:nvSpPr>
        <p:spPr>
          <a:xfrm>
            <a:off x="658368" y="1691640"/>
            <a:ext cx="1874520" cy="896112"/>
          </a:xfrm>
          <a:prstGeom prst="roundRect">
            <a:avLst>
              <a:gd name="adj" fmla="val 8163"/>
            </a:avLst>
          </a:prstGeom>
          <a:solidFill>
            <a:srgbClr val="DFF6FF"/>
          </a:solidFill>
          <a:ln w="12700">
            <a:solidFill>
              <a:srgbClr val="C7D5E3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6600E07-675E-FC4B-5859-9FA2091A4A5E}"/>
              </a:ext>
            </a:extLst>
          </p:cNvPr>
          <p:cNvSpPr/>
          <p:nvPr/>
        </p:nvSpPr>
        <p:spPr>
          <a:xfrm>
            <a:off x="804672" y="1801368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用户任务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E72AAFF-13A4-57DC-F393-9D5A6261C566}"/>
              </a:ext>
            </a:extLst>
          </p:cNvPr>
          <p:cNvSpPr/>
          <p:nvPr/>
        </p:nvSpPr>
        <p:spPr>
          <a:xfrm>
            <a:off x="804672" y="2075688"/>
            <a:ext cx="1581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读取网页 / 邮件 / 文档</a:t>
            </a:r>
            <a:endParaRPr lang="en-US" sz="1080" dirty="0">
              <a:latin typeface="HarmonyOS Sans SC" panose="00000500000000000000" pitchFamily="2" charset="-122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132199C-F4A6-1464-DCED-E7B9620A841D}"/>
              </a:ext>
            </a:extLst>
          </p:cNvPr>
          <p:cNvSpPr/>
          <p:nvPr/>
        </p:nvSpPr>
        <p:spPr>
          <a:xfrm>
            <a:off x="2765284" y="1691640"/>
            <a:ext cx="1874520" cy="896112"/>
          </a:xfrm>
          <a:prstGeom prst="roundRect">
            <a:avLst>
              <a:gd name="adj" fmla="val 8163"/>
            </a:avLst>
          </a:prstGeom>
          <a:solidFill>
            <a:srgbClr val="FFF2E3"/>
          </a:solidFill>
          <a:ln w="12700">
            <a:solidFill>
              <a:srgbClr val="C7D5E3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590BB36-560A-0089-BAED-90624249DC47}"/>
              </a:ext>
            </a:extLst>
          </p:cNvPr>
          <p:cNvSpPr/>
          <p:nvPr/>
        </p:nvSpPr>
        <p:spPr>
          <a:xfrm>
            <a:off x="2889503" y="1801368"/>
            <a:ext cx="15013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模型接触外部内容</a:t>
            </a:r>
            <a:endParaRPr lang="en-US" sz="1400" dirty="0">
              <a:latin typeface="HarmonyOS Sans SC" panose="00000500000000000000" pitchFamily="2" charset="-122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728D32F-1F54-78FF-64E0-C723884FA90D}"/>
              </a:ext>
            </a:extLst>
          </p:cNvPr>
          <p:cNvSpPr/>
          <p:nvPr/>
        </p:nvSpPr>
        <p:spPr>
          <a:xfrm>
            <a:off x="2889504" y="2075688"/>
            <a:ext cx="1581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上下文里混入第三方文本</a:t>
            </a:r>
            <a:endParaRPr lang="en-US" sz="1080" dirty="0">
              <a:latin typeface="HarmonyOS Sans SC" panose="00000500000000000000" pitchFamily="2" charset="-122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9061E1C-2523-B98E-FDB2-5936571020F8}"/>
              </a:ext>
            </a:extLst>
          </p:cNvPr>
          <p:cNvSpPr/>
          <p:nvPr/>
        </p:nvSpPr>
        <p:spPr>
          <a:xfrm>
            <a:off x="4828032" y="1691640"/>
            <a:ext cx="1874520" cy="896112"/>
          </a:xfrm>
          <a:prstGeom prst="roundRect">
            <a:avLst>
              <a:gd name="adj" fmla="val 8163"/>
            </a:avLst>
          </a:prstGeom>
          <a:solidFill>
            <a:srgbClr val="FFF0EE"/>
          </a:solidFill>
          <a:ln w="12700">
            <a:solidFill>
              <a:srgbClr val="C7D5E3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7D63C81-5C29-C494-7A9D-1B441BA1AF9A}"/>
              </a:ext>
            </a:extLst>
          </p:cNvPr>
          <p:cNvSpPr/>
          <p:nvPr/>
        </p:nvSpPr>
        <p:spPr>
          <a:xfrm>
            <a:off x="4974336" y="1801368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隐藏指令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B7DB6A0-F9E6-5F07-A627-A41AC22A7512}"/>
              </a:ext>
            </a:extLst>
          </p:cNvPr>
          <p:cNvSpPr/>
          <p:nvPr/>
        </p:nvSpPr>
        <p:spPr>
          <a:xfrm>
            <a:off x="4974336" y="2075688"/>
            <a:ext cx="1581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“忽略原任务</a:t>
            </a:r>
            <a:endParaRPr lang="en-US" sz="108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0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转而执行……”</a:t>
            </a:r>
            <a:endParaRPr lang="en-US" sz="1080" dirty="0">
              <a:latin typeface="HarmonyOS Sans SC" panose="00000500000000000000" pitchFamily="2" charset="-122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5D109B1-9F4C-6EC0-F57E-7A0F13654760}"/>
              </a:ext>
            </a:extLst>
          </p:cNvPr>
          <p:cNvSpPr/>
          <p:nvPr/>
        </p:nvSpPr>
        <p:spPr>
          <a:xfrm>
            <a:off x="6912864" y="1691640"/>
            <a:ext cx="1874520" cy="896112"/>
          </a:xfrm>
          <a:prstGeom prst="roundRect">
            <a:avLst>
              <a:gd name="adj" fmla="val 8163"/>
            </a:avLst>
          </a:prstGeom>
          <a:solidFill>
            <a:srgbClr val="F0EEFF"/>
          </a:solidFill>
          <a:ln w="12700">
            <a:solidFill>
              <a:srgbClr val="C7D5E3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81A1BE0-8F9F-5988-76B9-B2E4A5937D29}"/>
              </a:ext>
            </a:extLst>
          </p:cNvPr>
          <p:cNvSpPr/>
          <p:nvPr/>
        </p:nvSpPr>
        <p:spPr>
          <a:xfrm>
            <a:off x="7059168" y="1801368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行为被劫持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9A92672-8596-9EB7-A7C4-34570A14A092}"/>
              </a:ext>
            </a:extLst>
          </p:cNvPr>
          <p:cNvSpPr/>
          <p:nvPr/>
        </p:nvSpPr>
        <p:spPr>
          <a:xfrm>
            <a:off x="7059168" y="2075688"/>
            <a:ext cx="1581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总结变成执行</a:t>
            </a:r>
            <a:endParaRPr lang="en-US" sz="108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0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检索变成泄露</a:t>
            </a:r>
            <a:endParaRPr lang="en-US" sz="1080" dirty="0">
              <a:latin typeface="HarmonyOS Sans SC" panose="00000500000000000000" pitchFamily="2" charset="-122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31ED50B-4B79-B709-1F57-2ADC324CF00C}"/>
              </a:ext>
            </a:extLst>
          </p:cNvPr>
          <p:cNvSpPr/>
          <p:nvPr/>
        </p:nvSpPr>
        <p:spPr>
          <a:xfrm>
            <a:off x="8997696" y="1691640"/>
            <a:ext cx="1874520" cy="896112"/>
          </a:xfrm>
          <a:prstGeom prst="roundRect">
            <a:avLst>
              <a:gd name="adj" fmla="val 8163"/>
            </a:avLst>
          </a:prstGeom>
          <a:solidFill>
            <a:srgbClr val="EAFBF3"/>
          </a:solidFill>
          <a:ln w="12700">
            <a:solidFill>
              <a:srgbClr val="C7D5E3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2E71AC6-3614-275C-A0C9-E5993951CE3D}"/>
              </a:ext>
            </a:extLst>
          </p:cNvPr>
          <p:cNvSpPr/>
          <p:nvPr/>
        </p:nvSpPr>
        <p:spPr>
          <a:xfrm>
            <a:off x="9144000" y="1801368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风险后果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356BCAD-9234-F31E-257D-B30D3393E59B}"/>
              </a:ext>
            </a:extLst>
          </p:cNvPr>
          <p:cNvSpPr/>
          <p:nvPr/>
        </p:nvSpPr>
        <p:spPr>
          <a:xfrm>
            <a:off x="9144000" y="2075688"/>
            <a:ext cx="1581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数据外传 / 工具误用</a:t>
            </a:r>
            <a:endParaRPr lang="en-US" sz="108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0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权限越界</a:t>
            </a:r>
            <a:endParaRPr lang="en-US" sz="1080" dirty="0">
              <a:latin typeface="HarmonyOS Sans SC" panose="00000500000000000000" pitchFamily="2" charset="-122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A0A9C654-1B19-EDF8-F5DE-E926D53B8240}"/>
              </a:ext>
            </a:extLst>
          </p:cNvPr>
          <p:cNvSpPr/>
          <p:nvPr/>
        </p:nvSpPr>
        <p:spPr>
          <a:xfrm>
            <a:off x="713232" y="3035808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DFF6FF"/>
          </a:solidFill>
          <a:ln w="12700">
            <a:solidFill>
              <a:srgbClr val="9FD6EE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0971F0A-A3EA-0716-2543-C27923C6123B}"/>
              </a:ext>
            </a:extLst>
          </p:cNvPr>
          <p:cNvSpPr/>
          <p:nvPr/>
        </p:nvSpPr>
        <p:spPr>
          <a:xfrm>
            <a:off x="859536" y="3145536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Direct Injection（直接注入）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2683944-E5AD-EF76-D8E0-7097C4837A6D}"/>
              </a:ext>
            </a:extLst>
          </p:cNvPr>
          <p:cNvSpPr/>
          <p:nvPr/>
        </p:nvSpPr>
        <p:spPr>
          <a:xfrm>
            <a:off x="859536" y="3419856"/>
            <a:ext cx="295351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攻击入口：用户自己输入的 prompt。</a:t>
            </a:r>
            <a:endParaRPr lang="en-US" sz="118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典型动作：直接要求“忽略规则”“切换人格”“输出编码答案”。</a:t>
            </a:r>
            <a:endParaRPr lang="en-US" sz="118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Microsoft 将这类攻击归入 user prompt attacks；常见子类包括 role-play、conversation mockup、encoding attack。 [1][2]</a:t>
            </a:r>
            <a:endParaRPr lang="en-US" sz="1180" dirty="0">
              <a:latin typeface="HarmonyOS Sans SC" panose="00000500000000000000" pitchFamily="2" charset="-122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80DBE2E3-2FF7-34DD-328B-FC59DAFF3417}"/>
              </a:ext>
            </a:extLst>
          </p:cNvPr>
          <p:cNvSpPr/>
          <p:nvPr/>
        </p:nvSpPr>
        <p:spPr>
          <a:xfrm>
            <a:off x="4133088" y="3035808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FF2E3"/>
          </a:solidFill>
          <a:ln w="12700">
            <a:solidFill>
              <a:srgbClr val="F0C182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4D96E28-E778-F789-8821-86C24085CA41}"/>
              </a:ext>
            </a:extLst>
          </p:cNvPr>
          <p:cNvSpPr/>
          <p:nvPr/>
        </p:nvSpPr>
        <p:spPr>
          <a:xfrm>
            <a:off x="4279392" y="3145536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Indirect Injection（间接注入）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5CF0850-0DB3-9833-AF43-44DE8CDB5EA6}"/>
              </a:ext>
            </a:extLst>
          </p:cNvPr>
          <p:cNvSpPr/>
          <p:nvPr/>
        </p:nvSpPr>
        <p:spPr>
          <a:xfrm>
            <a:off x="4279392" y="3419856"/>
            <a:ext cx="295351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攻击入口：网页、邮件、PDF、共享文档、RAG 语料。</a:t>
            </a:r>
            <a:endParaRPr lang="en-US" sz="118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模型虽然是在“读资料”，却可能把第三方内容里的隐藏指令当真。</a:t>
            </a:r>
            <a:endParaRPr lang="en-US" sz="118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Anthropic 特别指出：浏览器代理访问的每个网页都可能成为攻击向量。 [1][3]</a:t>
            </a:r>
            <a:endParaRPr lang="en-US" sz="1180" dirty="0">
              <a:latin typeface="HarmonyOS Sans SC" panose="00000500000000000000" pitchFamily="2" charset="-122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BEDB840D-8496-8A64-8701-5E80BDC47D6A}"/>
              </a:ext>
            </a:extLst>
          </p:cNvPr>
          <p:cNvSpPr/>
          <p:nvPr/>
        </p:nvSpPr>
        <p:spPr>
          <a:xfrm>
            <a:off x="7626096" y="3035808"/>
            <a:ext cx="3639312" cy="1965960"/>
          </a:xfrm>
          <a:prstGeom prst="roundRect">
            <a:avLst>
              <a:gd name="adj" fmla="val 3721"/>
            </a:avLst>
          </a:prstGeom>
          <a:solidFill>
            <a:srgbClr val="FAFB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289D9E88-1338-76FC-D8A9-B45E3360AB38}"/>
              </a:ext>
            </a:extLst>
          </p:cNvPr>
          <p:cNvSpPr/>
          <p:nvPr/>
        </p:nvSpPr>
        <p:spPr>
          <a:xfrm>
            <a:off x="7827264" y="319125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E3859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论文图：Liu et al., USENIX Security 2024, Fig. 1</a:t>
            </a:r>
            <a:endParaRPr lang="en-US" sz="1130" dirty="0">
              <a:latin typeface="HarmonyOS Sans SC" panose="00000500000000000000" pitchFamily="2" charset="-122"/>
            </a:endParaRPr>
          </a:p>
        </p:txBody>
      </p:sp>
      <p:pic>
        <p:nvPicPr>
          <p:cNvPr id="36" name="Image 0" descr="/mnt/data/llm_safe_ppt/prompt_injection_framework_final.png">
            <a:extLst>
              <a:ext uri="{FF2B5EF4-FFF2-40B4-BE49-F238E27FC236}">
                <a16:creationId xmlns:a16="http://schemas.microsoft.com/office/drawing/2014/main" id="{B18761EE-1971-F2FD-E816-DD21367B2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881" y="3419856"/>
            <a:ext cx="1707454" cy="1170432"/>
          </a:xfrm>
          <a:prstGeom prst="rect">
            <a:avLst/>
          </a:prstGeom>
        </p:spPr>
      </p:pic>
      <p:sp>
        <p:nvSpPr>
          <p:cNvPr id="37" name="Text 34">
            <a:extLst>
              <a:ext uri="{FF2B5EF4-FFF2-40B4-BE49-F238E27FC236}">
                <a16:creationId xmlns:a16="http://schemas.microsoft.com/office/drawing/2014/main" id="{5648D574-C099-8616-24E1-2786710F540A}"/>
              </a:ext>
            </a:extLst>
          </p:cNvPr>
          <p:cNvSpPr/>
          <p:nvPr/>
        </p:nvSpPr>
        <p:spPr>
          <a:xfrm>
            <a:off x="7690104" y="4679181"/>
            <a:ext cx="3529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 err="1">
                <a:solidFill>
                  <a:srgbClr val="5E6E82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攻击者不是直接打模型，而是通过“外部资源”把指令混进数据</a:t>
            </a:r>
            <a:endParaRPr lang="en-US" sz="1020" dirty="0">
              <a:latin typeface="HarmonyOS Sans SC" panose="00000500000000000000" pitchFamily="2" charset="-122"/>
            </a:endParaRPr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AE262A75-9008-92DE-3EC0-CC8876C32546}"/>
              </a:ext>
            </a:extLst>
          </p:cNvPr>
          <p:cNvSpPr/>
          <p:nvPr/>
        </p:nvSpPr>
        <p:spPr>
          <a:xfrm>
            <a:off x="932688" y="5376672"/>
            <a:ext cx="10287000" cy="530352"/>
          </a:xfrm>
          <a:prstGeom prst="roundRect">
            <a:avLst>
              <a:gd name="adj" fmla="val 10345"/>
            </a:avLst>
          </a:prstGeom>
          <a:solidFill>
            <a:srgbClr val="0E3859"/>
          </a:solidFill>
          <a:ln w="12700">
            <a:solidFill>
              <a:srgbClr val="0E385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C466A1CB-A9B1-89BF-AF4D-66F8C647C18D}"/>
              </a:ext>
            </a:extLst>
          </p:cNvPr>
          <p:cNvSpPr/>
          <p:nvPr/>
        </p:nvSpPr>
        <p:spPr>
          <a:xfrm>
            <a:off x="1170432" y="555040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10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结论：当 LLM 接入浏览器、邮箱、文件和工具后，提示注入就是连接“模型风险”和“智能体风险”的那座桥。</a:t>
            </a:r>
            <a:endParaRPr lang="en-US" sz="1310" dirty="0">
              <a:latin typeface="HarmonyOS Sans SC" panose="00000500000000000000" pitchFamily="2" charset="-122"/>
            </a:endParaRP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EFFA0355-4F74-8DEA-3FE6-7F074371B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864" y="1967753"/>
            <a:ext cx="9399328" cy="28310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1194CB96-92C1-5871-4649-E5FBED1B3A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8925" y="-8566449"/>
            <a:ext cx="5715075" cy="82189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861456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C88AE6-6C6C-BD73-4827-B6D5E6C96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8B35DBC-308C-23B6-1C71-C63DBE029C53}"/>
              </a:ext>
            </a:extLst>
          </p:cNvPr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8263D"/>
          </a:solidFill>
          <a:ln w="12700">
            <a:solidFill>
              <a:srgbClr val="082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12833F3-1364-E458-0F34-EB586D2A5B2C}"/>
              </a:ext>
            </a:extLst>
          </p:cNvPr>
          <p:cNvSpPr/>
          <p:nvPr/>
        </p:nvSpPr>
        <p:spPr>
          <a:xfrm>
            <a:off x="189953" y="5124"/>
            <a:ext cx="636629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提示注入（Prompt Injection）：把“不可信内容”伪装成指令</a:t>
            </a:r>
            <a:endParaRPr lang="en-US" dirty="0">
              <a:latin typeface="HarmonyOS Sans SC" panose="00000500000000000000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3BB0C43-4135-02E3-E7CF-FDF77EC68667}"/>
              </a:ext>
            </a:extLst>
          </p:cNvPr>
          <p:cNvSpPr/>
          <p:nvPr/>
        </p:nvSpPr>
        <p:spPr>
          <a:xfrm>
            <a:off x="8778240" y="100584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9F3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AI安全 / 指令劫持与间接注入</a:t>
            </a:r>
            <a:endParaRPr lang="en-US" sz="850" dirty="0">
              <a:latin typeface="HarmonyOS Sans SC" panose="00000500000000000000" pitchFamily="2" charset="-122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F9330D5-6E6F-070C-A1B8-30109D1648D4}"/>
              </a:ext>
            </a:extLst>
          </p:cNvPr>
          <p:cNvSpPr/>
          <p:nvPr/>
        </p:nvSpPr>
        <p:spPr>
          <a:xfrm>
            <a:off x="11841480" y="651052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9A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5</a:t>
            </a:r>
            <a:endParaRPr lang="en-US" sz="800" dirty="0">
              <a:latin typeface="HarmonyOS Sans SC" panose="00000500000000000000" pitchFamily="2" charset="-122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0AEA2F3-2042-D412-428E-C698F194FFED}"/>
              </a:ext>
            </a:extLst>
          </p:cNvPr>
          <p:cNvSpPr/>
          <p:nvPr/>
        </p:nvSpPr>
        <p:spPr>
          <a:xfrm>
            <a:off x="201168" y="6355080"/>
            <a:ext cx="11155680" cy="164592"/>
          </a:xfrm>
          <a:prstGeom prst="roundRect">
            <a:avLst>
              <a:gd name="adj" fmla="val 16667"/>
            </a:avLst>
          </a:prstGeom>
          <a:solidFill>
            <a:srgbClr val="08263D"/>
          </a:solidFill>
          <a:ln w="12700">
            <a:solidFill>
              <a:srgbClr val="082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ABB5709-1026-8E13-11CB-0D4299DEAEF3}"/>
              </a:ext>
            </a:extLst>
          </p:cNvPr>
          <p:cNvSpPr/>
          <p:nvPr/>
        </p:nvSpPr>
        <p:spPr>
          <a:xfrm>
            <a:off x="320040" y="6382512"/>
            <a:ext cx="5120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AI安全 / 大模型安全基础 / 第2次汇报</a:t>
            </a:r>
            <a:endParaRPr lang="en-US" sz="800" dirty="0">
              <a:latin typeface="HarmonyOS Sans SC" panose="00000500000000000000" pitchFamily="2" charset="-122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41B4742-ADAD-EBFE-1704-B4B525D07110}"/>
              </a:ext>
            </a:extLst>
          </p:cNvPr>
          <p:cNvSpPr/>
          <p:nvPr/>
        </p:nvSpPr>
        <p:spPr>
          <a:xfrm>
            <a:off x="506756" y="985143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Prompt Injection </a:t>
            </a:r>
            <a:r>
              <a:rPr lang="zh-CN" altLang="en-US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危险的地方</a:t>
            </a:r>
            <a:r>
              <a:rPr lang="en-US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在于：模型很难天然分清“这是数据”还是“这是更高优先级的新指令</a:t>
            </a:r>
            <a:r>
              <a:rPr lang="en-US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”。</a:t>
            </a:r>
            <a:endParaRPr lang="en-US" dirty="0">
              <a:latin typeface="HarmonyOS Sans SC" panose="00000500000000000000" pitchFamily="2" charset="-122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287E718-3932-292D-9D70-724FC7D19E53}"/>
              </a:ext>
            </a:extLst>
          </p:cNvPr>
          <p:cNvSpPr/>
          <p:nvPr/>
        </p:nvSpPr>
        <p:spPr>
          <a:xfrm>
            <a:off x="2532888" y="2130552"/>
            <a:ext cx="137160" cy="0"/>
          </a:xfrm>
          <a:prstGeom prst="line">
            <a:avLst/>
          </a:prstGeom>
          <a:noFill/>
          <a:ln w="19050">
            <a:solidFill>
              <a:srgbClr val="9BB7C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F598000-A65C-7DAB-A80D-376C9C81C22F}"/>
              </a:ext>
            </a:extLst>
          </p:cNvPr>
          <p:cNvSpPr/>
          <p:nvPr/>
        </p:nvSpPr>
        <p:spPr>
          <a:xfrm>
            <a:off x="4617720" y="2130552"/>
            <a:ext cx="137160" cy="0"/>
          </a:xfrm>
          <a:prstGeom prst="line">
            <a:avLst/>
          </a:prstGeom>
          <a:noFill/>
          <a:ln w="19050">
            <a:solidFill>
              <a:srgbClr val="9BB7C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F750D8B-A3AB-015A-E251-9205DCBC2766}"/>
              </a:ext>
            </a:extLst>
          </p:cNvPr>
          <p:cNvSpPr/>
          <p:nvPr/>
        </p:nvSpPr>
        <p:spPr>
          <a:xfrm>
            <a:off x="6702552" y="2130552"/>
            <a:ext cx="137160" cy="0"/>
          </a:xfrm>
          <a:prstGeom prst="line">
            <a:avLst/>
          </a:prstGeom>
          <a:noFill/>
          <a:ln w="19050">
            <a:solidFill>
              <a:srgbClr val="9BB7C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AAA9407-573E-DDC8-75D3-8CAE2328AAD5}"/>
              </a:ext>
            </a:extLst>
          </p:cNvPr>
          <p:cNvSpPr/>
          <p:nvPr/>
        </p:nvSpPr>
        <p:spPr>
          <a:xfrm>
            <a:off x="8787384" y="2130552"/>
            <a:ext cx="137160" cy="0"/>
          </a:xfrm>
          <a:prstGeom prst="line">
            <a:avLst/>
          </a:prstGeom>
          <a:noFill/>
          <a:ln w="19050">
            <a:solidFill>
              <a:srgbClr val="9BB7C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78BD5B6-5316-0F7F-E656-C6D6587B35EB}"/>
              </a:ext>
            </a:extLst>
          </p:cNvPr>
          <p:cNvSpPr/>
          <p:nvPr/>
        </p:nvSpPr>
        <p:spPr>
          <a:xfrm>
            <a:off x="658368" y="1691640"/>
            <a:ext cx="1874520" cy="896112"/>
          </a:xfrm>
          <a:prstGeom prst="roundRect">
            <a:avLst>
              <a:gd name="adj" fmla="val 8163"/>
            </a:avLst>
          </a:prstGeom>
          <a:solidFill>
            <a:srgbClr val="DFF6FF"/>
          </a:solidFill>
          <a:ln w="12700">
            <a:solidFill>
              <a:srgbClr val="C7D5E3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907C4F3-7B38-B2A4-BFA5-45E54A8DC4EB}"/>
              </a:ext>
            </a:extLst>
          </p:cNvPr>
          <p:cNvSpPr/>
          <p:nvPr/>
        </p:nvSpPr>
        <p:spPr>
          <a:xfrm>
            <a:off x="804672" y="1801368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用户任务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D88DB26-309D-3D22-567B-09DB06C14FF0}"/>
              </a:ext>
            </a:extLst>
          </p:cNvPr>
          <p:cNvSpPr/>
          <p:nvPr/>
        </p:nvSpPr>
        <p:spPr>
          <a:xfrm>
            <a:off x="804672" y="2075688"/>
            <a:ext cx="1581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读取网页 / 邮件 / 文档</a:t>
            </a:r>
            <a:endParaRPr lang="en-US" sz="1080" dirty="0">
              <a:latin typeface="HarmonyOS Sans SC" panose="00000500000000000000" pitchFamily="2" charset="-122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08D9046-59A8-C566-F504-A8CE00AFD5BE}"/>
              </a:ext>
            </a:extLst>
          </p:cNvPr>
          <p:cNvSpPr/>
          <p:nvPr/>
        </p:nvSpPr>
        <p:spPr>
          <a:xfrm>
            <a:off x="2765284" y="1691640"/>
            <a:ext cx="1874520" cy="896112"/>
          </a:xfrm>
          <a:prstGeom prst="roundRect">
            <a:avLst>
              <a:gd name="adj" fmla="val 8163"/>
            </a:avLst>
          </a:prstGeom>
          <a:solidFill>
            <a:srgbClr val="FFF2E3"/>
          </a:solidFill>
          <a:ln w="12700">
            <a:solidFill>
              <a:srgbClr val="C7D5E3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D4955BF-2791-C6BE-E15D-B991D26F5276}"/>
              </a:ext>
            </a:extLst>
          </p:cNvPr>
          <p:cNvSpPr/>
          <p:nvPr/>
        </p:nvSpPr>
        <p:spPr>
          <a:xfrm>
            <a:off x="2889503" y="1801368"/>
            <a:ext cx="15013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模型接触外部内容</a:t>
            </a:r>
            <a:endParaRPr lang="en-US" sz="1400" dirty="0">
              <a:latin typeface="HarmonyOS Sans SC" panose="00000500000000000000" pitchFamily="2" charset="-122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FB91B0D-B393-8D2D-CCC7-AE27BF3DDF43}"/>
              </a:ext>
            </a:extLst>
          </p:cNvPr>
          <p:cNvSpPr/>
          <p:nvPr/>
        </p:nvSpPr>
        <p:spPr>
          <a:xfrm>
            <a:off x="2889504" y="2075688"/>
            <a:ext cx="1581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上下文里混入第三方文本</a:t>
            </a:r>
            <a:endParaRPr lang="en-US" sz="1080" dirty="0">
              <a:latin typeface="HarmonyOS Sans SC" panose="00000500000000000000" pitchFamily="2" charset="-122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ED1232C-A329-7101-8F65-36FCC46C3621}"/>
              </a:ext>
            </a:extLst>
          </p:cNvPr>
          <p:cNvSpPr/>
          <p:nvPr/>
        </p:nvSpPr>
        <p:spPr>
          <a:xfrm>
            <a:off x="4828032" y="1691640"/>
            <a:ext cx="1874520" cy="896112"/>
          </a:xfrm>
          <a:prstGeom prst="roundRect">
            <a:avLst>
              <a:gd name="adj" fmla="val 8163"/>
            </a:avLst>
          </a:prstGeom>
          <a:solidFill>
            <a:srgbClr val="FFF0EE"/>
          </a:solidFill>
          <a:ln w="12700">
            <a:solidFill>
              <a:srgbClr val="C7D5E3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C412A87-453E-4EBD-50CD-D5237A9CE3F2}"/>
              </a:ext>
            </a:extLst>
          </p:cNvPr>
          <p:cNvSpPr/>
          <p:nvPr/>
        </p:nvSpPr>
        <p:spPr>
          <a:xfrm>
            <a:off x="4974336" y="1801368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隐藏指令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CF0EE6F-B436-D582-9327-1B517A87B4B8}"/>
              </a:ext>
            </a:extLst>
          </p:cNvPr>
          <p:cNvSpPr/>
          <p:nvPr/>
        </p:nvSpPr>
        <p:spPr>
          <a:xfrm>
            <a:off x="4974336" y="2075688"/>
            <a:ext cx="1581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“忽略原任务</a:t>
            </a:r>
            <a:endParaRPr lang="en-US" sz="108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0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转而执行……”</a:t>
            </a:r>
            <a:endParaRPr lang="en-US" sz="1080" dirty="0">
              <a:latin typeface="HarmonyOS Sans SC" panose="00000500000000000000" pitchFamily="2" charset="-122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3CA3759-8CE3-84CE-F867-3558F9442AC8}"/>
              </a:ext>
            </a:extLst>
          </p:cNvPr>
          <p:cNvSpPr/>
          <p:nvPr/>
        </p:nvSpPr>
        <p:spPr>
          <a:xfrm>
            <a:off x="6912864" y="1691640"/>
            <a:ext cx="1874520" cy="896112"/>
          </a:xfrm>
          <a:prstGeom prst="roundRect">
            <a:avLst>
              <a:gd name="adj" fmla="val 8163"/>
            </a:avLst>
          </a:prstGeom>
          <a:solidFill>
            <a:srgbClr val="F0EEFF"/>
          </a:solidFill>
          <a:ln w="12700">
            <a:solidFill>
              <a:srgbClr val="C7D5E3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0030984-9340-7C6C-ED2B-43ECC695BCCC}"/>
              </a:ext>
            </a:extLst>
          </p:cNvPr>
          <p:cNvSpPr/>
          <p:nvPr/>
        </p:nvSpPr>
        <p:spPr>
          <a:xfrm>
            <a:off x="7059168" y="1801368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行为被劫持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7013642-93C7-5A83-B810-780DAF005D7E}"/>
              </a:ext>
            </a:extLst>
          </p:cNvPr>
          <p:cNvSpPr/>
          <p:nvPr/>
        </p:nvSpPr>
        <p:spPr>
          <a:xfrm>
            <a:off x="7059168" y="2075688"/>
            <a:ext cx="1581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总结变成执行</a:t>
            </a:r>
            <a:endParaRPr lang="en-US" sz="108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0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检索变成泄露</a:t>
            </a:r>
            <a:endParaRPr lang="en-US" sz="1080" dirty="0">
              <a:latin typeface="HarmonyOS Sans SC" panose="00000500000000000000" pitchFamily="2" charset="-122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CD2EA61-A61D-B635-DD49-6130B38389CC}"/>
              </a:ext>
            </a:extLst>
          </p:cNvPr>
          <p:cNvSpPr/>
          <p:nvPr/>
        </p:nvSpPr>
        <p:spPr>
          <a:xfrm>
            <a:off x="8997696" y="1691640"/>
            <a:ext cx="1874520" cy="896112"/>
          </a:xfrm>
          <a:prstGeom prst="roundRect">
            <a:avLst>
              <a:gd name="adj" fmla="val 8163"/>
            </a:avLst>
          </a:prstGeom>
          <a:solidFill>
            <a:srgbClr val="EAFBF3"/>
          </a:solidFill>
          <a:ln w="12700">
            <a:solidFill>
              <a:srgbClr val="C7D5E3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365893C-022E-56B5-798B-93F21B421489}"/>
              </a:ext>
            </a:extLst>
          </p:cNvPr>
          <p:cNvSpPr/>
          <p:nvPr/>
        </p:nvSpPr>
        <p:spPr>
          <a:xfrm>
            <a:off x="9144000" y="1801368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风险后果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0D17806-7971-DC73-F7FF-7CA8EB935599}"/>
              </a:ext>
            </a:extLst>
          </p:cNvPr>
          <p:cNvSpPr/>
          <p:nvPr/>
        </p:nvSpPr>
        <p:spPr>
          <a:xfrm>
            <a:off x="9144000" y="2075688"/>
            <a:ext cx="1581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数据外传 / 工具误用</a:t>
            </a:r>
            <a:endParaRPr lang="en-US" sz="108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0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权限越界</a:t>
            </a:r>
            <a:endParaRPr lang="en-US" sz="1080" dirty="0">
              <a:latin typeface="HarmonyOS Sans SC" panose="00000500000000000000" pitchFamily="2" charset="-122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DC7787B-4F38-A852-65B5-437D46028A31}"/>
              </a:ext>
            </a:extLst>
          </p:cNvPr>
          <p:cNvSpPr/>
          <p:nvPr/>
        </p:nvSpPr>
        <p:spPr>
          <a:xfrm>
            <a:off x="713232" y="3035808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DFF6FF"/>
          </a:solidFill>
          <a:ln w="12700">
            <a:solidFill>
              <a:srgbClr val="9FD6EE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8D4ADF7-66AE-E68B-369D-632E35BBEF37}"/>
              </a:ext>
            </a:extLst>
          </p:cNvPr>
          <p:cNvSpPr/>
          <p:nvPr/>
        </p:nvSpPr>
        <p:spPr>
          <a:xfrm>
            <a:off x="859536" y="3145536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Direct Injection（直接注入）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4051528C-2C4D-1607-5EFC-7853405C7DF3}"/>
              </a:ext>
            </a:extLst>
          </p:cNvPr>
          <p:cNvSpPr/>
          <p:nvPr/>
        </p:nvSpPr>
        <p:spPr>
          <a:xfrm>
            <a:off x="859536" y="3419856"/>
            <a:ext cx="295351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攻击入口：用户自己输入的 prompt。</a:t>
            </a:r>
            <a:endParaRPr lang="en-US" sz="118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典型动作：直接要求“忽略规则”“切换人格”“输出编码答案”。</a:t>
            </a:r>
            <a:endParaRPr lang="en-US" sz="118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Microsoft 将这类攻击归入 user prompt attacks；常见子类包括 role-play、conversation mockup、encoding attack。 [1][2]</a:t>
            </a:r>
            <a:endParaRPr lang="en-US" sz="1180" dirty="0">
              <a:latin typeface="HarmonyOS Sans SC" panose="00000500000000000000" pitchFamily="2" charset="-122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3C3882A9-6A4B-63A2-E974-0CD27C1C9B91}"/>
              </a:ext>
            </a:extLst>
          </p:cNvPr>
          <p:cNvSpPr/>
          <p:nvPr/>
        </p:nvSpPr>
        <p:spPr>
          <a:xfrm>
            <a:off x="4133088" y="3035808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FF2E3"/>
          </a:solidFill>
          <a:ln w="12700">
            <a:solidFill>
              <a:srgbClr val="F0C182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AF1F0D81-4540-4494-39BA-75CB018B5DEC}"/>
              </a:ext>
            </a:extLst>
          </p:cNvPr>
          <p:cNvSpPr/>
          <p:nvPr/>
        </p:nvSpPr>
        <p:spPr>
          <a:xfrm>
            <a:off x="4279392" y="3145536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Indirect Injection（间接注入）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5CD788DD-A14F-46F5-1F40-F5D7FD4BA1E1}"/>
              </a:ext>
            </a:extLst>
          </p:cNvPr>
          <p:cNvSpPr/>
          <p:nvPr/>
        </p:nvSpPr>
        <p:spPr>
          <a:xfrm>
            <a:off x="4279392" y="3419856"/>
            <a:ext cx="295351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攻击入口：网页、邮件、PDF、共享文档、RAG 语料。</a:t>
            </a:r>
            <a:endParaRPr lang="en-US" sz="118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模型虽然是在“读资料”，却可能把第三方内容里的隐藏指令当真。</a:t>
            </a:r>
            <a:endParaRPr lang="en-US" sz="118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Anthropic 特别指出：浏览器代理访问的每个网页都可能成为攻击向量。 [1][3]</a:t>
            </a:r>
            <a:endParaRPr lang="en-US" sz="1180" dirty="0">
              <a:latin typeface="HarmonyOS Sans SC" panose="00000500000000000000" pitchFamily="2" charset="-122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805B63CE-4A06-1E33-F3D3-29EAAC63837D}"/>
              </a:ext>
            </a:extLst>
          </p:cNvPr>
          <p:cNvSpPr/>
          <p:nvPr/>
        </p:nvSpPr>
        <p:spPr>
          <a:xfrm>
            <a:off x="7626096" y="3035808"/>
            <a:ext cx="3639312" cy="1965960"/>
          </a:xfrm>
          <a:prstGeom prst="roundRect">
            <a:avLst>
              <a:gd name="adj" fmla="val 3721"/>
            </a:avLst>
          </a:prstGeom>
          <a:solidFill>
            <a:srgbClr val="FAFB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E9D5355C-319B-858B-96EC-B35FFBAC573E}"/>
              </a:ext>
            </a:extLst>
          </p:cNvPr>
          <p:cNvSpPr/>
          <p:nvPr/>
        </p:nvSpPr>
        <p:spPr>
          <a:xfrm>
            <a:off x="7827264" y="319125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E3859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论文图：Liu et al., USENIX Security 2024, Fig. 1</a:t>
            </a:r>
            <a:endParaRPr lang="en-US" sz="1130" dirty="0">
              <a:latin typeface="HarmonyOS Sans SC" panose="00000500000000000000" pitchFamily="2" charset="-122"/>
            </a:endParaRPr>
          </a:p>
        </p:txBody>
      </p:sp>
      <p:pic>
        <p:nvPicPr>
          <p:cNvPr id="36" name="Image 0" descr="/mnt/data/llm_safe_ppt/prompt_injection_framework_final.png">
            <a:extLst>
              <a:ext uri="{FF2B5EF4-FFF2-40B4-BE49-F238E27FC236}">
                <a16:creationId xmlns:a16="http://schemas.microsoft.com/office/drawing/2014/main" id="{1AB2E8FE-5C84-49F6-E300-427BEADE2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881" y="3419856"/>
            <a:ext cx="1707454" cy="1170432"/>
          </a:xfrm>
          <a:prstGeom prst="rect">
            <a:avLst/>
          </a:prstGeom>
        </p:spPr>
      </p:pic>
      <p:sp>
        <p:nvSpPr>
          <p:cNvPr id="37" name="Text 34">
            <a:extLst>
              <a:ext uri="{FF2B5EF4-FFF2-40B4-BE49-F238E27FC236}">
                <a16:creationId xmlns:a16="http://schemas.microsoft.com/office/drawing/2014/main" id="{390D55A0-6D57-F815-8EC4-39161AE5BA07}"/>
              </a:ext>
            </a:extLst>
          </p:cNvPr>
          <p:cNvSpPr/>
          <p:nvPr/>
        </p:nvSpPr>
        <p:spPr>
          <a:xfrm>
            <a:off x="7690104" y="4679181"/>
            <a:ext cx="3529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 err="1">
                <a:solidFill>
                  <a:srgbClr val="5E6E82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攻击者不是直接打模型，而是通过“外部资源”把指令混进数据</a:t>
            </a:r>
            <a:endParaRPr lang="en-US" sz="1020" dirty="0">
              <a:latin typeface="HarmonyOS Sans SC" panose="00000500000000000000" pitchFamily="2" charset="-122"/>
            </a:endParaRPr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B1279473-63CC-D3C1-BFFD-E6814F08E656}"/>
              </a:ext>
            </a:extLst>
          </p:cNvPr>
          <p:cNvSpPr/>
          <p:nvPr/>
        </p:nvSpPr>
        <p:spPr>
          <a:xfrm>
            <a:off x="932688" y="5376672"/>
            <a:ext cx="10287000" cy="530352"/>
          </a:xfrm>
          <a:prstGeom prst="roundRect">
            <a:avLst>
              <a:gd name="adj" fmla="val 10345"/>
            </a:avLst>
          </a:prstGeom>
          <a:solidFill>
            <a:srgbClr val="0E3859"/>
          </a:solidFill>
          <a:ln w="12700">
            <a:solidFill>
              <a:srgbClr val="0E385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8DFC1BFB-AA8C-BB57-7CEC-1F62E772B590}"/>
              </a:ext>
            </a:extLst>
          </p:cNvPr>
          <p:cNvSpPr/>
          <p:nvPr/>
        </p:nvSpPr>
        <p:spPr>
          <a:xfrm>
            <a:off x="1170432" y="555040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10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结论：当 LLM 接入浏览器、邮箱、文件和工具后，提示注入就是连接“模型风险”和“智能体风险”的那座桥。</a:t>
            </a:r>
            <a:endParaRPr lang="en-US" sz="1310" dirty="0">
              <a:latin typeface="HarmonyOS Sans SC" panose="00000500000000000000" pitchFamily="2" charset="-122"/>
            </a:endParaRP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518D19D2-ECA7-C2BA-1B07-CA0EB31E1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864" y="1967753"/>
            <a:ext cx="9399328" cy="28310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592D36D8-02A5-C964-EC34-A31DD7A18B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-208945"/>
            <a:ext cx="5797296" cy="83372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87270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8263D"/>
          </a:solidFill>
          <a:ln w="12700">
            <a:solidFill>
              <a:srgbClr val="082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201168" y="7315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敏感信息泄露：泄露的不只是“训练数据”</a:t>
            </a:r>
            <a:endParaRPr lang="en-US" sz="2200" dirty="0">
              <a:latin typeface="HarmonyOS Sans SC" panose="00000500000000000000" pitchFamily="2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8778240" y="100584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9F3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AI安全 / 数据与系统提示暴露</a:t>
            </a:r>
            <a:endParaRPr lang="en-US" sz="850" dirty="0">
              <a:latin typeface="HarmonyOS Sans SC" panose="00000500000000000000" pitchFamily="2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41480" y="651052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9A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6</a:t>
            </a:r>
            <a:endParaRPr lang="en-US" sz="800" dirty="0">
              <a:latin typeface="HarmonyOS Sans SC" panose="00000500000000000000" pitchFamily="2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01168" y="6355080"/>
            <a:ext cx="11155680" cy="164592"/>
          </a:xfrm>
          <a:prstGeom prst="roundRect">
            <a:avLst>
              <a:gd name="adj" fmla="val 16667"/>
            </a:avLst>
          </a:prstGeom>
          <a:solidFill>
            <a:srgbClr val="08263D"/>
          </a:solidFill>
          <a:ln w="12700">
            <a:solidFill>
              <a:srgbClr val="082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6382512"/>
            <a:ext cx="5120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AI安全 / 大模型安全基础 / 第2次汇报</a:t>
            </a:r>
            <a:endParaRPr lang="en-US" sz="800" dirty="0">
              <a:latin typeface="HarmonyOS Sans SC" panose="00000500000000000000" pitchFamily="2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在 LLM 应用里，泄露面至少有四类：系统提示、用户隐私、检索/工具结果、凭证与业务机密。</a:t>
            </a:r>
            <a:endParaRPr lang="en-US" sz="1400" dirty="0">
              <a:latin typeface="HarmonyOS Sans SC" panose="00000500000000000000" pitchFamily="2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58368" y="114300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0EE"/>
          </a:solidFill>
          <a:ln w="12700">
            <a:solidFill>
              <a:srgbClr val="F0B9B3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4672" y="1252728"/>
            <a:ext cx="2862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1. 系统 Prompt 泄露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04672" y="1527048"/>
            <a:ext cx="28620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隐藏指令里若包含策略、流程、甚至密钥，一旦泄露，攻击者就能更精准地继续注入或绕过。 [2][6]</a:t>
            </a:r>
            <a:endParaRPr lang="en-US" sz="1180" dirty="0">
              <a:latin typeface="HarmonyOS Sans SC" panose="00000500000000000000" pitchFamily="2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58368" y="274320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2E3"/>
          </a:solidFill>
          <a:ln w="12700">
            <a:solidFill>
              <a:srgbClr val="F0C182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4672" y="2852928"/>
            <a:ext cx="2862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2. RAG / 文档上下文泄露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04672" y="3127248"/>
            <a:ext cx="28620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共享文档、检索片段、历史会话、附件内容，都可能在回答中被“顺手带出”。 [1][2]</a:t>
            </a:r>
            <a:endParaRPr lang="en-US" sz="1180" dirty="0">
              <a:latin typeface="HarmonyOS Sans SC" panose="00000500000000000000" pitchFamily="2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58368" y="434340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DFF6FF"/>
          </a:solidFill>
          <a:ln w="12700">
            <a:solidFill>
              <a:srgbClr val="9FD6EE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04672" y="4453128"/>
            <a:ext cx="2862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3. 用户隐私与业务数据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04672" y="4727448"/>
            <a:ext cx="27741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PII、财务信息、合同、健康数据、内部指标等，都属于 OWASP 所定义的敏感信息范围。 [1]</a:t>
            </a:r>
            <a:endParaRPr lang="en-US" sz="1180" dirty="0">
              <a:latin typeface="HarmonyOS Sans SC" panose="00000500000000000000" pitchFamily="2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160520" y="1143000"/>
            <a:ext cx="3063240" cy="4617720"/>
          </a:xfrm>
          <a:prstGeom prst="roundRect">
            <a:avLst>
              <a:gd name="adj" fmla="val 2388"/>
            </a:avLst>
          </a:prstGeom>
          <a:solidFill>
            <a:srgbClr val="F8FBFE"/>
          </a:solidFill>
          <a:ln w="12700">
            <a:solidFill>
              <a:srgbClr val="0E3859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389120" y="135331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0E3859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论文图：Agarwal et al., EMNLP 2024, Fig. 1</a:t>
            </a:r>
            <a:endParaRPr lang="en-US" sz="1180" dirty="0">
              <a:latin typeface="HarmonyOS Sans SC" panose="00000500000000000000" pitchFamily="2" charset="-122"/>
            </a:endParaRPr>
          </a:p>
        </p:txBody>
      </p:sp>
      <p:pic>
        <p:nvPicPr>
          <p:cNvPr id="20" name="Image 0" descr="/mnt/data/llm_safe_ppt/prompt_leakage_setup_final.png"/>
          <p:cNvPicPr>
            <a:picLocks noChangeAspect="1"/>
          </p:cNvPicPr>
          <p:nvPr/>
        </p:nvPicPr>
        <p:blipFill>
          <a:blip r:embed="rId3"/>
          <a:srcRect l="11466" t="14276" r="8504"/>
          <a:stretch>
            <a:fillRect/>
          </a:stretch>
        </p:blipFill>
        <p:spPr>
          <a:xfrm>
            <a:off x="3884666" y="1633618"/>
            <a:ext cx="3484477" cy="183195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407408" y="34290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5E6E82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这张图把“多轮泄露”画得很直观：第 1 轮先试探，第 2 轮再利用迎合性继续追问。</a:t>
            </a:r>
            <a:endParaRPr lang="en-US" sz="1080" dirty="0">
              <a:latin typeface="HarmonyOS Sans SC" panose="00000500000000000000" pitchFamily="2" charset="-122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553712" y="3886200"/>
            <a:ext cx="2240280" cy="256032"/>
          </a:xfrm>
          <a:prstGeom prst="roundRect">
            <a:avLst>
              <a:gd name="adj" fmla="val 42857"/>
            </a:avLst>
          </a:prstGeom>
          <a:solidFill>
            <a:srgbClr val="0E3859"/>
          </a:solidFill>
          <a:ln w="12700">
            <a:solidFill>
              <a:srgbClr val="0E385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553712" y="39044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17.7%  -&gt;  86.2%</a:t>
            </a:r>
            <a:endParaRPr lang="en-US" sz="1150" dirty="0">
              <a:latin typeface="HarmonyOS Sans SC" panose="00000500000000000000" pitchFamily="2" charset="-122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407408" y="4315968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2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论文</a:t>
            </a:r>
            <a:r>
              <a:rPr lang="en-US" sz="1120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指出：在多轮设置下，利用</a:t>
            </a:r>
            <a:r>
              <a:rPr lang="en-US" sz="112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 sycophancy（迎合性）设计威胁模型，可把平均 ASR 从 17.7% 提高到 86.2%。这说明“泄露”往往是会话级风险，而非单轮失误。 [6]</a:t>
            </a:r>
            <a:endParaRPr lang="en-US" sz="1120" dirty="0">
              <a:latin typeface="HarmonyOS Sans SC" panose="00000500000000000000" pitchFamily="2" charset="-122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543800" y="1143000"/>
            <a:ext cx="3675888" cy="2121408"/>
          </a:xfrm>
          <a:prstGeom prst="roundRect">
            <a:avLst>
              <a:gd name="adj" fmla="val 3448"/>
            </a:avLst>
          </a:prstGeom>
          <a:solidFill>
            <a:srgbClr val="EAFBF3"/>
          </a:solidFill>
          <a:ln w="12700">
            <a:solidFill>
              <a:srgbClr val="9DD8BB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7690104" y="12527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控制重点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690104" y="1527048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• 敏感数据最小化：不要把 API key、账号口令、内部流程硬编码进 system prompt [2]</a:t>
            </a:r>
            <a:endParaRPr lang="en-US" sz="118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• 检索结果分级：高敏上下文默认不进入模型或先脱敏</a:t>
            </a:r>
            <a:endParaRPr lang="en-US" sz="118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• 响应侧拦截：对 PII、秘密、策略文本做输出检测</a:t>
            </a:r>
            <a:endParaRPr lang="en-US" sz="1180" dirty="0">
              <a:latin typeface="HarmonyOS Sans SC" panose="00000500000000000000" pitchFamily="2" charset="-122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7543800" y="3611880"/>
            <a:ext cx="3675888" cy="2121408"/>
          </a:xfrm>
          <a:prstGeom prst="roundRect">
            <a:avLst>
              <a:gd name="adj" fmla="val 3448"/>
            </a:avLst>
          </a:prstGeom>
          <a:solidFill>
            <a:srgbClr val="F0EEFF"/>
          </a:solidFill>
          <a:ln w="12700">
            <a:solidFill>
              <a:srgbClr val="C9C0FF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7690104" y="37216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怎么理解？</a:t>
            </a: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7690104" y="3995928"/>
            <a:ext cx="34482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如果说“越狱”是试图打开门，“提示注入”是骗守门人换规则，那么“敏感信息泄露”就是门后的地图、钥匙和文件被顺走。</a:t>
            </a:r>
            <a:endParaRPr lang="en-US" sz="118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18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它常常既是攻击结果，也是下一步攻击的情报来源。</a:t>
            </a:r>
            <a:endParaRPr lang="en-US" sz="1180" dirty="0">
              <a:latin typeface="HarmonyOS Sans SC" panose="00000500000000000000" pitchFamily="2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8263D"/>
          </a:solidFill>
          <a:ln w="12700">
            <a:solidFill>
              <a:srgbClr val="082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201168" y="7315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防御框架</a:t>
            </a:r>
            <a:r>
              <a:rPr lang="en-US" sz="220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(</a:t>
            </a:r>
            <a:r>
              <a:rPr lang="zh-CN" altLang="en-US" sz="220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理论</a:t>
            </a:r>
            <a:r>
              <a:rPr lang="en-US" sz="220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)</a:t>
            </a:r>
            <a:endParaRPr lang="en-US" sz="2200" dirty="0">
              <a:latin typeface="HarmonyOS Sans SC" panose="00000500000000000000" pitchFamily="2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8778240" y="100584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9F3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AI安全 / 分层防御与评估</a:t>
            </a:r>
            <a:endParaRPr lang="en-US" sz="850" dirty="0">
              <a:latin typeface="HarmonyOS Sans SC" panose="00000500000000000000" pitchFamily="2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41480" y="651052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9A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7</a:t>
            </a:r>
            <a:endParaRPr lang="en-US" sz="800" dirty="0">
              <a:latin typeface="HarmonyOS Sans SC" panose="00000500000000000000" pitchFamily="2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01168" y="6355080"/>
            <a:ext cx="11155680" cy="164592"/>
          </a:xfrm>
          <a:prstGeom prst="roundRect">
            <a:avLst>
              <a:gd name="adj" fmla="val 16667"/>
            </a:avLst>
          </a:prstGeom>
          <a:solidFill>
            <a:srgbClr val="08263D"/>
          </a:solidFill>
          <a:ln w="12700">
            <a:solidFill>
              <a:srgbClr val="082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6382512"/>
            <a:ext cx="5120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AI安全 / 大模型安全基础 / 第2次汇报</a:t>
            </a:r>
            <a:endParaRPr lang="en-US" sz="800" dirty="0">
              <a:latin typeface="HarmonyOS Sans SC" panose="00000500000000000000" pitchFamily="2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从OWASP、NIST</a:t>
            </a:r>
            <a:r>
              <a:rPr lang="en-US" sz="14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 </a:t>
            </a:r>
            <a:r>
              <a:rPr lang="zh-CN" altLang="en-US" sz="14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等各个安全研究公司</a:t>
            </a:r>
            <a:r>
              <a:rPr lang="en-US" sz="14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，结论都很一致：Prompt Injection / Jailbreak / Leakage 需要“分层防御 + 持续评估”。</a:t>
            </a:r>
            <a:endParaRPr lang="en-US" sz="1400" dirty="0">
              <a:latin typeface="HarmonyOS Sans SC" panose="00000500000000000000" pitchFamily="2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66928" y="1371600"/>
            <a:ext cx="2084832" cy="4023360"/>
          </a:xfrm>
          <a:prstGeom prst="roundRect">
            <a:avLst>
              <a:gd name="adj" fmla="val 3509"/>
            </a:avLst>
          </a:prstGeom>
          <a:solidFill>
            <a:srgbClr val="DFF6FF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316736" y="1572768"/>
            <a:ext cx="411480" cy="411480"/>
          </a:xfrm>
          <a:prstGeom prst="ellipse">
            <a:avLst/>
          </a:prstGeom>
          <a:solidFill>
            <a:srgbClr val="38C7FF"/>
          </a:solidFill>
          <a:ln w="12700">
            <a:solidFill>
              <a:srgbClr val="38C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16736" y="16002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01</a:t>
            </a:r>
            <a:endParaRPr lang="en-US" sz="1100" dirty="0">
              <a:latin typeface="HarmonyOS Sans SC" panose="00000500000000000000" pitchFamily="2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89788" y="204825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输入层</a:t>
            </a:r>
            <a:endParaRPr lang="en-US" sz="1600" dirty="0">
              <a:latin typeface="HarmonyOS Sans SC" panose="00000500000000000000" pitchFamily="2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13232" y="2487168"/>
            <a:ext cx="1792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输入清洗、模式检测、Prompt</a:t>
            </a:r>
            <a:r>
              <a:rPr lang="zh-CN" altLang="en-US" sz="14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审计</a:t>
            </a:r>
            <a:r>
              <a:rPr lang="en-US" sz="14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、对外部文档做来源分级。 </a:t>
            </a:r>
            <a:r>
              <a:rPr lang="en-US" sz="1400" baseline="300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[1][2]</a:t>
            </a:r>
            <a:endParaRPr lang="en-US" sz="1400" baseline="30000" dirty="0">
              <a:latin typeface="HarmonyOS Sans SC" panose="00000500000000000000" pitchFamily="2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880360" y="1371600"/>
            <a:ext cx="2084832" cy="4023360"/>
          </a:xfrm>
          <a:prstGeom prst="roundRect">
            <a:avLst>
              <a:gd name="adj" fmla="val 3509"/>
            </a:avLst>
          </a:prstGeom>
          <a:solidFill>
            <a:srgbClr val="FFF2E3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30168" y="1572768"/>
            <a:ext cx="411480" cy="411480"/>
          </a:xfrm>
          <a:prstGeom prst="ellipse">
            <a:avLst/>
          </a:prstGeom>
          <a:solidFill>
            <a:srgbClr val="F3A34B"/>
          </a:solidFill>
          <a:ln w="12700">
            <a:solidFill>
              <a:srgbClr val="F3A3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30168" y="16002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02</a:t>
            </a:r>
            <a:endParaRPr lang="en-US" sz="1100" dirty="0">
              <a:latin typeface="HarmonyOS Sans SC" panose="00000500000000000000" pitchFamily="2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910307" y="204825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提示层</a:t>
            </a:r>
            <a:endParaRPr lang="en-US" sz="1600" dirty="0">
              <a:latin typeface="HarmonyOS Sans SC" panose="00000500000000000000" pitchFamily="2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026664" y="2487168"/>
            <a:ext cx="1792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系统 prompt </a:t>
            </a:r>
            <a:r>
              <a:rPr lang="en-US" sz="1400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分层、明确优先级、把策略和秘密分离，不把密钥塞进</a:t>
            </a:r>
            <a:r>
              <a:rPr lang="en-US" sz="14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 prompt</a:t>
            </a:r>
            <a:r>
              <a:rPr lang="zh-CN" altLang="en-US" sz="14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。</a:t>
            </a:r>
            <a:r>
              <a:rPr lang="en-US" sz="1400" baseline="300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 [1][3]</a:t>
            </a:r>
            <a:endParaRPr lang="en-US" sz="1400" baseline="30000" dirty="0">
              <a:latin typeface="HarmonyOS Sans SC" panose="00000500000000000000" pitchFamily="2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193792" y="1371600"/>
            <a:ext cx="2084832" cy="4023360"/>
          </a:xfrm>
          <a:prstGeom prst="roundRect">
            <a:avLst>
              <a:gd name="adj" fmla="val 3509"/>
            </a:avLst>
          </a:prstGeom>
          <a:solidFill>
            <a:srgbClr val="FFF0EE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943600" y="1572768"/>
            <a:ext cx="411480" cy="411480"/>
          </a:xfrm>
          <a:prstGeom prst="ellipse">
            <a:avLst/>
          </a:prstGeom>
          <a:solidFill>
            <a:srgbClr val="F26B64"/>
          </a:solidFill>
          <a:ln w="12700">
            <a:solidFill>
              <a:srgbClr val="F26B6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943600" y="16002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03</a:t>
            </a:r>
            <a:endParaRPr lang="en-US" sz="1100" dirty="0">
              <a:latin typeface="HarmonyOS Sans SC" panose="00000500000000000000" pitchFamily="2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242150" y="204825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模型层</a:t>
            </a:r>
            <a:endParaRPr lang="en-US" sz="1600" dirty="0">
              <a:latin typeface="HarmonyOS Sans SC" panose="00000500000000000000" pitchFamily="2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340096" y="2487168"/>
            <a:ext cx="1792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对齐训练、越狱评测、红队测试、拒答一致性与恢复能力评估。 </a:t>
            </a:r>
            <a:r>
              <a:rPr lang="en-US" sz="1400" baseline="300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[4][5]</a:t>
            </a:r>
            <a:endParaRPr lang="en-US" sz="1400" baseline="30000" dirty="0">
              <a:latin typeface="HarmonyOS Sans SC" panose="00000500000000000000" pitchFamily="2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507224" y="1371600"/>
            <a:ext cx="2084832" cy="4023360"/>
          </a:xfrm>
          <a:prstGeom prst="roundRect">
            <a:avLst>
              <a:gd name="adj" fmla="val 3509"/>
            </a:avLst>
          </a:prstGeom>
          <a:solidFill>
            <a:srgbClr val="EAFBF3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257032" y="1572768"/>
            <a:ext cx="411480" cy="411480"/>
          </a:xfrm>
          <a:prstGeom prst="ellipse">
            <a:avLst/>
          </a:prstGeom>
          <a:solidFill>
            <a:srgbClr val="31C48D"/>
          </a:solidFill>
          <a:ln w="12700">
            <a:solidFill>
              <a:srgbClr val="31C4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57032" y="16002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04</a:t>
            </a:r>
            <a:endParaRPr lang="en-US" sz="1100" dirty="0">
              <a:latin typeface="HarmonyOS Sans SC" panose="00000500000000000000" pitchFamily="2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549445" y="204825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工具/运行层</a:t>
            </a:r>
            <a:endParaRPr lang="en-US" sz="1600" dirty="0">
              <a:latin typeface="HarmonyOS Sans SC" panose="00000500000000000000" pitchFamily="2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653528" y="2487168"/>
            <a:ext cx="1792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最小权限、只读优先、沙箱执行、对高风险动作加确认</a:t>
            </a:r>
            <a:r>
              <a:rPr lang="en-US" sz="14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 </a:t>
            </a:r>
            <a:r>
              <a:rPr lang="en-US" sz="1400" baseline="300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[1][3]</a:t>
            </a:r>
            <a:endParaRPr lang="en-US" sz="1400" baseline="30000" dirty="0">
              <a:latin typeface="HarmonyOS Sans SC" panose="00000500000000000000" pitchFamily="2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820656" y="1371600"/>
            <a:ext cx="2084832" cy="4023360"/>
          </a:xfrm>
          <a:prstGeom prst="roundRect">
            <a:avLst>
              <a:gd name="adj" fmla="val 3509"/>
            </a:avLst>
          </a:prstGeom>
          <a:solidFill>
            <a:srgbClr val="F0EEFF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0570464" y="1572768"/>
            <a:ext cx="411480" cy="4114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570464" y="16002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05</a:t>
            </a:r>
            <a:endParaRPr lang="en-US" sz="1100" dirty="0">
              <a:latin typeface="HarmonyOS Sans SC" panose="00000500000000000000" pitchFamily="2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850603" y="204825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数据/治理层</a:t>
            </a:r>
            <a:endParaRPr lang="en-US" sz="1600" dirty="0">
              <a:latin typeface="HarmonyOS Sans SC" panose="00000500000000000000" pitchFamily="2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966960" y="2487168"/>
            <a:ext cx="1792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PII </a:t>
            </a:r>
            <a:r>
              <a:rPr lang="en-US" sz="1400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脱敏、日志与审计、事故响应、版本回滚、合规与留痕</a:t>
            </a:r>
            <a:r>
              <a:rPr lang="en-US" sz="1400" baseline="300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 [1][6]</a:t>
            </a:r>
            <a:endParaRPr lang="en-US" sz="1400" baseline="30000" dirty="0">
              <a:latin typeface="HarmonyOS Sans SC" panose="00000500000000000000" pitchFamily="2" charset="-12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024128" y="5696712"/>
            <a:ext cx="10058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评估指标建议：攻击成功率（ASR）、误拒率、敏感信息命中率、高风险工具调用前确认率。</a:t>
            </a:r>
            <a:endParaRPr lang="en-US" sz="1250" dirty="0">
              <a:latin typeface="HarmonyOS Sans SC" panose="00000500000000000000" pitchFamily="2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8263D"/>
          </a:solidFill>
          <a:ln w="12700">
            <a:solidFill>
              <a:srgbClr val="082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43972" y="9144"/>
            <a:ext cx="56350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结论</a:t>
            </a:r>
            <a:endParaRPr lang="en-US" sz="2200" dirty="0">
              <a:latin typeface="HarmonyOS Sans SC" panose="00000500000000000000" pitchFamily="2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8778240" y="100584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9F3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AI安全 / 小结与下一次衔接</a:t>
            </a:r>
            <a:endParaRPr lang="en-US" sz="850" dirty="0">
              <a:latin typeface="HarmonyOS Sans SC" panose="00000500000000000000" pitchFamily="2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41480" y="651052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9A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8</a:t>
            </a:r>
            <a:endParaRPr lang="en-US" sz="800" dirty="0">
              <a:latin typeface="HarmonyOS Sans SC" panose="00000500000000000000" pitchFamily="2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01168" y="6355080"/>
            <a:ext cx="11155680" cy="164592"/>
          </a:xfrm>
          <a:prstGeom prst="roundRect">
            <a:avLst>
              <a:gd name="adj" fmla="val 16667"/>
            </a:avLst>
          </a:prstGeom>
          <a:solidFill>
            <a:srgbClr val="08263D"/>
          </a:solidFill>
          <a:ln w="12700">
            <a:solidFill>
              <a:srgbClr val="082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6382512"/>
            <a:ext cx="5120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AI安全 / 大模型安全基础 / 第2次汇报</a:t>
            </a:r>
            <a:endParaRPr lang="en-US" sz="800" dirty="0">
              <a:latin typeface="HarmonyOS Sans SC" panose="00000500000000000000" pitchFamily="2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13231" y="1005840"/>
            <a:ext cx="4969549" cy="4526280"/>
          </a:xfrm>
          <a:prstGeom prst="roundRect">
            <a:avLst>
              <a:gd name="adj" fmla="val 1616"/>
            </a:avLst>
          </a:prstGeom>
          <a:solidFill>
            <a:srgbClr val="F8FBFE"/>
          </a:solidFill>
          <a:ln w="12700">
            <a:solidFill>
              <a:srgbClr val="D5E3EE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9536" y="1115568"/>
            <a:ext cx="446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>
              <a:latin typeface="HarmonyOS Sans SC" panose="00000500000000000000" pitchFamily="2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9536" y="1389888"/>
            <a:ext cx="4462272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① 越狱：本质是让模型越过既有安全边界。</a:t>
            </a:r>
            <a:endParaRPr lang="en-US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endParaRPr lang="en-US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② 提示注入：本质是把不可信内容伪装成更高优先级的指令；它会把模型风险扩展到浏览器、文件、邮箱与工具。</a:t>
            </a:r>
            <a:endParaRPr lang="en-US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endParaRPr lang="en-US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③ 敏感信息泄露：既可能是最终伤害，也常常是后续攻击的“情报前奏”。</a:t>
            </a:r>
            <a:endParaRPr lang="en-US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endParaRPr lang="en-US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所以，大模型安全不是单一过滤器问题，而是输入、提示、模型、工具、数据共同构成的系统问题。 </a:t>
            </a:r>
            <a:r>
              <a:rPr lang="en-US" baseline="300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[1][2][3][4][5][6]</a:t>
            </a:r>
            <a:endParaRPr lang="en-US" baseline="30000" dirty="0">
              <a:latin typeface="HarmonyOS Sans SC" panose="00000500000000000000" pitchFamily="2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943599" y="1005840"/>
            <a:ext cx="5266944" cy="1798851"/>
          </a:xfrm>
          <a:prstGeom prst="roundRect">
            <a:avLst>
              <a:gd name="adj" fmla="val 4335"/>
            </a:avLst>
          </a:prstGeom>
          <a:solidFill>
            <a:srgbClr val="EAFBF3"/>
          </a:solidFill>
          <a:ln w="12700">
            <a:solidFill>
              <a:srgbClr val="A9E5C6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089904" y="1382094"/>
            <a:ext cx="5266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下一次我们做什么？</a:t>
            </a:r>
            <a:endParaRPr lang="en-US" sz="2000" dirty="0">
              <a:latin typeface="HarmonyOS Sans SC" panose="00000500000000000000" pitchFamily="2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148204" y="1796550"/>
            <a:ext cx="5150343" cy="794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“</a:t>
            </a:r>
            <a:r>
              <a:rPr lang="en-US" sz="1600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模型会被谁骗</a:t>
            </a:r>
            <a:r>
              <a:rPr lang="en-US" sz="16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”</a:t>
            </a:r>
            <a:r>
              <a:rPr lang="zh-CN" altLang="en-US" sz="16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讲了之后</a:t>
            </a:r>
            <a:endParaRPr lang="en-US" sz="1600" dirty="0">
              <a:solidFill>
                <a:srgbClr val="1E2D3D"/>
              </a:solidFill>
              <a:latin typeface="HarmonyOS Sans SC" panose="00000500000000000000" pitchFamily="2" charset="-122"/>
              <a:ea typeface="HarmonyOS Sans SC" panose="00000500000000000000" pitchFamily="2" charset="-122"/>
              <a:cs typeface="Noto Sans CJK SC" pitchFamily="34" charset="-120"/>
            </a:endParaRPr>
          </a:p>
          <a:p>
            <a:pPr marL="0" indent="0">
              <a:buNone/>
            </a:pPr>
            <a:r>
              <a:rPr lang="zh-CN" altLang="en-US" sz="16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下一次我们希望能够回答</a:t>
            </a:r>
            <a:r>
              <a:rPr lang="en-US" sz="16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：</a:t>
            </a:r>
            <a:r>
              <a:rPr lang="en-US" sz="1600" dirty="0" err="1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被骗之后，它究竟还能做错多大的事</a:t>
            </a:r>
            <a:r>
              <a:rPr lang="en-US" sz="16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？</a:t>
            </a:r>
            <a:endParaRPr lang="en-US" sz="1600" dirty="0">
              <a:latin typeface="HarmonyOS Sans SC" panose="00000500000000000000" pitchFamily="2" charset="-122"/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557BCFCF-89FB-307F-DA6F-8789BFDD6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176" y="2982928"/>
            <a:ext cx="3823789" cy="25491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8263D"/>
          </a:solidFill>
          <a:ln w="12700">
            <a:solidFill>
              <a:srgbClr val="082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201168" y="20901"/>
            <a:ext cx="541760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参考文献</a:t>
            </a:r>
            <a:endParaRPr lang="en-US" sz="2200" dirty="0">
              <a:latin typeface="HarmonyOS Sans SC" panose="00000500000000000000" pitchFamily="2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8778240" y="100584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9F3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AI安全 / 引用汇总</a:t>
            </a:r>
            <a:endParaRPr lang="en-US" sz="850" dirty="0">
              <a:latin typeface="HarmonyOS Sans SC" panose="00000500000000000000" pitchFamily="2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41480" y="651052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9A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9</a:t>
            </a:r>
            <a:endParaRPr lang="en-US" sz="800" dirty="0">
              <a:latin typeface="HarmonyOS Sans SC" panose="00000500000000000000" pitchFamily="2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18007" y="6426708"/>
            <a:ext cx="11155680" cy="164592"/>
          </a:xfrm>
          <a:prstGeom prst="roundRect">
            <a:avLst>
              <a:gd name="adj" fmla="val 16667"/>
            </a:avLst>
          </a:prstGeom>
          <a:solidFill>
            <a:srgbClr val="08263D"/>
          </a:solidFill>
          <a:ln w="12700">
            <a:solidFill>
              <a:srgbClr val="082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636879" y="6454140"/>
            <a:ext cx="5120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AI安全 / 大模型安全基础 / 第2次汇报</a:t>
            </a:r>
            <a:endParaRPr lang="en-US" sz="800" dirty="0">
              <a:latin typeface="HarmonyOS Sans SC" panose="00000500000000000000" pitchFamily="2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7605" y="804672"/>
            <a:ext cx="5582195" cy="5422392"/>
          </a:xfrm>
          <a:prstGeom prst="roundRect">
            <a:avLst>
              <a:gd name="adj" fmla="val 1468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3578" y="987552"/>
            <a:ext cx="4965192" cy="4764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[1] OWASP GenAI Security Project. LLM01:2025 Prompt Injection. 2025.</a:t>
            </a:r>
            <a:endParaRPr lang="en-US" sz="120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endParaRPr lang="en-US" sz="120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[2] OWASP GenAI Security Project. LLM02:2025 Sensitive Information Disclosure. 2025.</a:t>
            </a:r>
            <a:endParaRPr lang="en-US" sz="120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endParaRPr lang="en-US" sz="120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[3] Anthropic. Mitigating the risk of prompt injections in browser use. 2025.</a:t>
            </a:r>
            <a:endParaRPr lang="en-US" sz="120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endParaRPr lang="en-US" sz="120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[4] Microsoft Learn. Prompt Shields in Azure AI Content Safety. 2026.</a:t>
            </a:r>
            <a:endParaRPr lang="en-US" sz="120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endParaRPr lang="en-US" sz="1200" dirty="0">
              <a:latin typeface="HarmonyOS Sans SC" panose="00000500000000000000" pitchFamily="2" charset="-122"/>
            </a:endParaRPr>
          </a:p>
          <a:p>
            <a:r>
              <a:rPr lang="en-US" sz="12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[5] Huang et al. Jailbreak Attacks and Defenses Against Large Language Models: A Survey. arXiv:2407.04295, 2024.</a:t>
            </a:r>
            <a:br>
              <a:rPr lang="en-US" sz="12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</a:br>
            <a:r>
              <a:rPr lang="en-US" altLang="zh-CN" sz="12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[6] Agarwal et al. Prompt Leakage effect and mitigation strategies for multi-turn LLM Applications. EMNLP Industry, 2024.</a:t>
            </a:r>
            <a:endParaRPr lang="en-US" altLang="zh-CN" sz="1200" dirty="0">
              <a:latin typeface="HarmonyOS Sans SC" panose="00000500000000000000" pitchFamily="2" charset="-122"/>
            </a:endParaRPr>
          </a:p>
          <a:p>
            <a:endParaRPr lang="en-US" altLang="zh-CN" sz="1200" dirty="0">
              <a:latin typeface="HarmonyOS Sans SC" panose="00000500000000000000" pitchFamily="2" charset="-122"/>
            </a:endParaRPr>
          </a:p>
          <a:p>
            <a:r>
              <a:rPr lang="en-US" altLang="zh-CN" sz="12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[7] Liu et al. Prompt Injection attack against LLM-integrated Applications. arXiv:2306.05499.</a:t>
            </a:r>
            <a:endParaRPr lang="en-US" altLang="zh-CN" sz="1200" dirty="0">
              <a:latin typeface="HarmonyOS Sans SC" panose="00000500000000000000" pitchFamily="2" charset="-122"/>
            </a:endParaRPr>
          </a:p>
          <a:p>
            <a:endParaRPr lang="en-US" altLang="zh-CN" sz="1200" dirty="0">
              <a:latin typeface="HarmonyOS Sans SC" panose="00000500000000000000" pitchFamily="2" charset="-122"/>
            </a:endParaRPr>
          </a:p>
          <a:p>
            <a:r>
              <a:rPr lang="en-US" altLang="zh-CN" sz="12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[8] NIST. Artificial Intelligence Risk Management Framework: Generative AI Profile (AI 600-1). 2024.</a:t>
            </a:r>
            <a:endParaRPr lang="en-US" altLang="zh-CN" sz="1200" dirty="0">
              <a:latin typeface="HarmonyOS Sans SC" panose="00000500000000000000" pitchFamily="2" charset="-122"/>
            </a:endParaRPr>
          </a:p>
          <a:p>
            <a:endParaRPr lang="en-US" altLang="zh-CN" sz="1200" dirty="0">
              <a:latin typeface="HarmonyOS Sans SC" panose="00000500000000000000" pitchFamily="2" charset="-122"/>
            </a:endParaRPr>
          </a:p>
          <a:p>
            <a:r>
              <a:rPr lang="en-US" altLang="zh-CN" sz="12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[9] NIST. Adversarial Machine Learning: A Taxonomy and Terminology of Attacks and Mitigations (AI 100-2e2025). 2025.</a:t>
            </a:r>
            <a:endParaRPr lang="en-US" altLang="zh-CN" sz="1200" dirty="0">
              <a:latin typeface="HarmonyOS Sans SC" panose="00000500000000000000" pitchFamily="2" charset="-122"/>
            </a:endParaRPr>
          </a:p>
          <a:p>
            <a:endParaRPr lang="en-US" altLang="zh-CN" sz="1200" dirty="0">
              <a:latin typeface="HarmonyOS Sans SC" panose="00000500000000000000" pitchFamily="2" charset="-122"/>
            </a:endParaRPr>
          </a:p>
          <a:p>
            <a:r>
              <a:rPr lang="en-US" altLang="zh-CN" sz="1200" dirty="0">
                <a:solidFill>
                  <a:srgbClr val="1E2D3D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[10] Liu et al. Formalizing and Benchmarking Prompt Injection Attacks and Defenses. USENIX Security Symposium, 2024.</a:t>
            </a:r>
            <a:endParaRPr lang="en-US" altLang="zh-CN" sz="1200" dirty="0">
              <a:latin typeface="HarmonyOS Sans SC" panose="00000500000000000000" pitchFamily="2" charset="-122"/>
            </a:endParaRPr>
          </a:p>
          <a:p>
            <a:pPr marL="0" indent="0">
              <a:buNone/>
            </a:pPr>
            <a:endParaRPr lang="en-US" sz="1200" dirty="0">
              <a:latin typeface="HarmonyOS Sans SC" panose="00000500000000000000" pitchFamily="2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23544" y="4091940"/>
            <a:ext cx="4965192" cy="4764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00" dirty="0">
              <a:latin typeface="HarmonyOS Sans SC" panose="00000500000000000000" pitchFamily="2" charset="-122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C5320324-D8A4-21A6-3943-910F847D46BC}"/>
              </a:ext>
            </a:extLst>
          </p:cNvPr>
          <p:cNvSpPr/>
          <p:nvPr/>
        </p:nvSpPr>
        <p:spPr>
          <a:xfrm>
            <a:off x="6201591" y="804672"/>
            <a:ext cx="5582195" cy="5422392"/>
          </a:xfrm>
          <a:prstGeom prst="roundRect">
            <a:avLst>
              <a:gd name="adj" fmla="val 1468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33EBE1ED-126A-E6A8-B3D3-780FFF69B342}"/>
              </a:ext>
            </a:extLst>
          </p:cNvPr>
          <p:cNvSpPr/>
          <p:nvPr/>
        </p:nvSpPr>
        <p:spPr>
          <a:xfrm>
            <a:off x="6547975" y="994084"/>
            <a:ext cx="541760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latin typeface="HarmonyOS Sans SC" panose="00000500000000000000" pitchFamily="2" charset="-122"/>
                <a:ea typeface="HarmonyOS Sans SC" panose="00000500000000000000" pitchFamily="2" charset="-122"/>
                <a:cs typeface="Noto Sans CJK SC" pitchFamily="34" charset="-120"/>
              </a:rPr>
              <a:t>鸣谢</a:t>
            </a:r>
            <a:endParaRPr lang="en-US" sz="2200" dirty="0">
              <a:latin typeface="HarmonyOS Sans SC" panose="00000500000000000000" pitchFamily="2" charset="-122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BF69F117-4C9F-31EE-65D7-147A6BE01595}"/>
              </a:ext>
            </a:extLst>
          </p:cNvPr>
          <p:cNvSpPr/>
          <p:nvPr/>
        </p:nvSpPr>
        <p:spPr>
          <a:xfrm>
            <a:off x="6547975" y="1362674"/>
            <a:ext cx="4618591" cy="2292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200000"/>
              </a:lnSpc>
            </a:pPr>
            <a:r>
              <a:rPr lang="zh-CN" altLang="en-US" sz="14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雷靖宇：负责汇报内容总结、</a:t>
            </a:r>
            <a:r>
              <a:rPr lang="en-US" altLang="zh-CN" sz="14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PPT </a:t>
            </a:r>
            <a:r>
              <a:rPr lang="zh-CN" altLang="en-US" sz="14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制作与整体汇报统筹。</a:t>
            </a:r>
            <a:endParaRPr lang="en-US" altLang="zh-CN" sz="1400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4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董庆锋：负责大模型安全相关技术内容调研与案例整理。</a:t>
            </a:r>
            <a:br>
              <a:rPr lang="zh-CN" altLang="en-US" sz="14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</a:br>
            <a:r>
              <a:rPr lang="zh-CN" altLang="en-US" sz="14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罗利伟：负责越狱、提示注入等技术部分资料收集与分析。</a:t>
            </a:r>
            <a:br>
              <a:rPr lang="zh-CN" altLang="en-US" sz="14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</a:br>
            <a:r>
              <a:rPr lang="zh-CN" altLang="en-US" sz="14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查燧坤：负责文献查找、参考资料整理与部分内容补充。</a:t>
            </a:r>
            <a:br>
              <a:rPr lang="zh-CN" altLang="en-US" sz="14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</a:br>
            <a:r>
              <a:rPr lang="zh-CN" altLang="en-US" sz="14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庄子渝：负责整理资料、排版优化与展示效果修改。</a:t>
            </a:r>
            <a:endParaRPr lang="en-US" sz="1400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1026" name="Picture 2" descr="终末地表情包02上微信和QQ了178">
            <a:extLst>
              <a:ext uri="{FF2B5EF4-FFF2-40B4-BE49-F238E27FC236}">
                <a16:creationId xmlns:a16="http://schemas.microsoft.com/office/drawing/2014/main" id="{F6D64E04-8F6E-A140-7DED-A74E21427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612" b="98469" l="9728" r="89494">
                        <a14:foregroundMark x1="37354" y1="6122" x2="37354" y2="6122"/>
                        <a14:foregroundMark x1="51751" y1="67857" x2="36965" y2="80102"/>
                        <a14:foregroundMark x1="71206" y1="72959" x2="69261" y2="98469"/>
                        <a14:foregroundMark x1="40856" y1="72959" x2="41245" y2="95408"/>
                        <a14:foregroundMark x1="54475" y1="78061" x2="54475" y2="80612"/>
                        <a14:foregroundMark x1="48638" y1="85714" x2="48638" y2="85714"/>
                        <a14:foregroundMark x1="49027" y1="88265" x2="49027" y2="88265"/>
                        <a14:foregroundMark x1="35409" y1="93367" x2="35409" y2="933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465" y="5454505"/>
            <a:ext cx="1012999" cy="772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明日方舟官方表情包贴纸- 抖音">
            <a:extLst>
              <a:ext uri="{FF2B5EF4-FFF2-40B4-BE49-F238E27FC236}">
                <a16:creationId xmlns:a16="http://schemas.microsoft.com/office/drawing/2014/main" id="{ECE9DC38-3A33-B563-AE7B-D45FA724D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6944" l="10000" r="90000">
                        <a14:foregroundMark x1="54219" y1="48611" x2="54063" y2="87500"/>
                        <a14:foregroundMark x1="54063" y1="87500" x2="50469" y2="969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8405" y="5261988"/>
            <a:ext cx="1780564" cy="100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明日方舟终末地表情包_新浪新闻">
            <a:extLst>
              <a:ext uri="{FF2B5EF4-FFF2-40B4-BE49-F238E27FC236}">
                <a16:creationId xmlns:a16="http://schemas.microsoft.com/office/drawing/2014/main" id="{5E7D67D3-9FAA-8DC6-E40D-464EF092D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5778" b="99556" l="4000" r="91111">
                        <a14:foregroundMark x1="22667" y1="8444" x2="22667" y2="8444"/>
                        <a14:foregroundMark x1="80444" y1="6222" x2="80444" y2="6222"/>
                        <a14:foregroundMark x1="48000" y1="88444" x2="50667" y2="96000"/>
                        <a14:foregroundMark x1="80444" y1="92000" x2="83111" y2="99556"/>
                        <a14:foregroundMark x1="63556" y1="77333" x2="65778" y2="92000"/>
                        <a14:foregroundMark x1="68000" y1="71111" x2="71556" y2="78667"/>
                        <a14:foregroundMark x1="73778" y1="30667" x2="77778" y2="50222"/>
                        <a14:foregroundMark x1="46667" y1="37778" x2="54222" y2="52889"/>
                        <a14:foregroundMark x1="4444" y1="17778" x2="4444" y2="17778"/>
                        <a14:foregroundMark x1="9333" y1="15111" x2="9333" y2="15111"/>
                        <a14:foregroundMark x1="4000" y1="19556" x2="4000" y2="19556"/>
                        <a14:foregroundMark x1="5778" y1="17333" x2="7556" y2="13333"/>
                        <a14:foregroundMark x1="16889" y1="27556" x2="16889" y2="27556"/>
                        <a14:foregroundMark x1="85778" y1="47556" x2="85778" y2="47556"/>
                        <a14:foregroundMark x1="88889" y1="47556" x2="91111" y2="47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069" y="5454505"/>
            <a:ext cx="773205" cy="773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原神- 《原神》派蒙的畫作35表情包登場！ 各位旅行者大家好！最新的《原神》表情包於HoYoLAB上線了！ 派蒙的畫作囊括了《原神》裡眾多角色的Q版 表情包，希望大家喜歡！ 今後派蒙仍會努力畫出讓大家喜愛的作品！ #米哈遊#">
            <a:extLst>
              <a:ext uri="{FF2B5EF4-FFF2-40B4-BE49-F238E27FC236}">
                <a16:creationId xmlns:a16="http://schemas.microsoft.com/office/drawing/2014/main" id="{DEFBE8B6-FBC3-0233-03C0-A2AEA25A1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4889" b="96889" l="9778" r="89778">
                        <a14:foregroundMark x1="16889" y1="27111" x2="13333" y2="27111"/>
                        <a14:foregroundMark x1="10222" y1="27111" x2="10222" y2="27111"/>
                        <a14:foregroundMark x1="47556" y1="4889" x2="47556" y2="4889"/>
                        <a14:foregroundMark x1="19111" y1="95556" x2="19111" y2="95556"/>
                        <a14:foregroundMark x1="57778" y1="88444" x2="57778" y2="88444"/>
                        <a14:foregroundMark x1="35111" y1="96889" x2="35111" y2="96889"/>
                        <a14:foregroundMark x1="34222" y1="76889" x2="34222" y2="76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637" y="5373189"/>
            <a:ext cx="862584" cy="862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71481658-4A49-51F8-7B35-E337F499FCC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8529" b="91618" l="9920" r="89920">
                        <a14:foregroundMark x1="75520" y1="76324" x2="75520" y2="76324"/>
                        <a14:foregroundMark x1="75520" y1="74412" x2="75520" y2="74412"/>
                        <a14:foregroundMark x1="75680" y1="73088" x2="75680" y2="75147"/>
                        <a14:foregroundMark x1="47840" y1="9706" x2="47840" y2="9706"/>
                        <a14:foregroundMark x1="47840" y1="8676" x2="47840" y2="8676"/>
                        <a14:foregroundMark x1="86080" y1="91618" x2="86080" y2="91618"/>
                        <a14:foregroundMark x1="73440" y1="90147" x2="73440" y2="90147"/>
                        <a14:foregroundMark x1="73600" y1="90294" x2="73600" y2="90294"/>
                        <a14:foregroundMark x1="64640" y1="90588" x2="64640" y2="9058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01401" y="4158511"/>
            <a:ext cx="1204677" cy="1310688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E981831C-B8A5-E604-09AC-3C6757023904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85000"/>
          </a:blip>
          <a:stretch>
            <a:fillRect/>
          </a:stretch>
        </p:blipFill>
        <p:spPr>
          <a:xfrm>
            <a:off x="7148840" y="993438"/>
            <a:ext cx="341248" cy="33691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C1E3A271-B3A2-622F-334D-89562B29CBB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74243" y="5531490"/>
            <a:ext cx="220086" cy="220086"/>
          </a:xfrm>
          <a:prstGeom prst="rect">
            <a:avLst/>
          </a:prstGeom>
        </p:spPr>
      </p:pic>
      <p:pic>
        <p:nvPicPr>
          <p:cNvPr id="1040" name="Picture 16" descr="鸣潮仇远q版图片- 抖音">
            <a:extLst>
              <a:ext uri="{FF2B5EF4-FFF2-40B4-BE49-F238E27FC236}">
                <a16:creationId xmlns:a16="http://schemas.microsoft.com/office/drawing/2014/main" id="{EF5C7F47-57D1-CC64-E271-10F9F4DAC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2667" b="93778" l="3556" r="89778">
                        <a14:foregroundMark x1="31111" y1="12889" x2="54667" y2="18222"/>
                        <a14:foregroundMark x1="54667" y1="18222" x2="54667" y2="18667"/>
                        <a14:foregroundMark x1="40444" y1="2667" x2="40444" y2="2667"/>
                        <a14:foregroundMark x1="89333" y1="31556" x2="89333" y2="31556"/>
                        <a14:foregroundMark x1="41333" y1="83556" x2="41778" y2="85778"/>
                        <a14:foregroundMark x1="60444" y1="88000" x2="60444" y2="88000"/>
                        <a14:foregroundMark x1="75111" y1="85778" x2="75111" y2="85778"/>
                        <a14:foregroundMark x1="81333" y1="79111" x2="81333" y2="79111"/>
                        <a14:foregroundMark x1="89333" y1="67556" x2="89333" y2="67556"/>
                        <a14:foregroundMark x1="81778" y1="66222" x2="84889" y2="74667"/>
                        <a14:foregroundMark x1="64444" y1="83556" x2="53778" y2="92444"/>
                        <a14:foregroundMark x1="69778" y1="88889" x2="63556" y2="93333"/>
                        <a14:foregroundMark x1="36889" y1="92000" x2="47556" y2="94222"/>
                        <a14:foregroundMark x1="8889" y1="82222" x2="8889" y2="82222"/>
                        <a14:foregroundMark x1="4889" y1="89333" x2="4889" y2="89333"/>
                        <a14:foregroundMark x1="3556" y1="57778" x2="3556" y2="57778"/>
                        <a14:foregroundMark x1="47556" y1="85333" x2="47556" y2="85333"/>
                        <a14:foregroundMark x1="41778" y1="80889" x2="41778" y2="80889"/>
                        <a14:foregroundMark x1="31556" y1="84889" x2="31556" y2="84889"/>
                        <a14:foregroundMark x1="22667" y1="93778" x2="22667" y2="93778"/>
                        <a14:foregroundMark x1="19556" y1="93778" x2="19556" y2="93778"/>
                        <a14:foregroundMark x1="28889" y1="93778" x2="28889" y2="93778"/>
                        <a14:foregroundMark x1="74667" y1="91556" x2="74667" y2="91556"/>
                        <a14:foregroundMark x1="17333" y1="25778" x2="17333" y2="25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3590" y="5400972"/>
            <a:ext cx="862584" cy="862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276C84DE-5F23-E912-0626-EFDA8CE5474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9408" b="89983" l="10000" r="91852">
                        <a14:foregroundMark x1="48148" y1="9408" x2="48148" y2="9408"/>
                        <a14:foregroundMark x1="29444" y1="53049" x2="29444" y2="53049"/>
                        <a14:foregroundMark x1="47037" y1="69861" x2="47130" y2="70209"/>
                        <a14:foregroundMark x1="47593" y1="72213" x2="47593" y2="72213"/>
                        <a14:foregroundMark x1="60926" y1="67683" x2="60926" y2="67683"/>
                        <a14:foregroundMark x1="91852" y1="32491" x2="91852" y2="3249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29623" y="5211862"/>
            <a:ext cx="1115031" cy="1185237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3596</Words>
  <Application>Microsoft Office PowerPoint</Application>
  <PresentationFormat>宽屏</PresentationFormat>
  <Paragraphs>337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汉仪国图创新红楼梦 45U</vt:lpstr>
      <vt:lpstr>华文宋体</vt:lpstr>
      <vt:lpstr>HarmonyOS Sans SC</vt:lpstr>
      <vt:lpstr>汉仪国图创新红楼梦 65U</vt:lpstr>
      <vt:lpstr>Calibri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AI安全——大模型安全基础（第2次汇报）</dc:title>
  <dc:subject>AI安全 第2次汇报：大模型安全基础</dc:subject>
  <dc:creator>董庆锋;雷靖宇</dc:creator>
  <cp:lastModifiedBy>Pillow PPD</cp:lastModifiedBy>
  <cp:revision>9</cp:revision>
  <dcterms:created xsi:type="dcterms:W3CDTF">2026-03-14T13:59:05Z</dcterms:created>
  <dcterms:modified xsi:type="dcterms:W3CDTF">2026-03-18T05:35:51Z</dcterms:modified>
</cp:coreProperties>
</file>